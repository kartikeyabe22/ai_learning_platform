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65" r:id="rId4"/>
    <p:sldId id="266" r:id="rId5"/>
    <p:sldId id="267" r:id="rId6"/>
    <p:sldId id="271" r:id="rId7"/>
    <p:sldId id="272" r:id="rId8"/>
    <p:sldId id="273" r:id="rId9"/>
    <p:sldId id="274" r:id="rId10"/>
    <p:sldId id="275" r:id="rId11"/>
    <p:sldId id="276" r:id="rId12"/>
    <p:sldId id="277" r:id="rId13"/>
    <p:sldId id="280" r:id="rId14"/>
    <p:sldId id="278" r:id="rId15"/>
    <p:sldId id="279" r:id="rId16"/>
    <p:sldId id="281" r:id="rId17"/>
    <p:sldId id="268" r:id="rId18"/>
    <p:sldId id="269" r:id="rId19"/>
    <p:sldId id="284" r:id="rId20"/>
    <p:sldId id="270" r:id="rId21"/>
    <p:sldId id="282" r:id="rId22"/>
    <p:sldId id="283" r:id="rId23"/>
    <p:sldId id="285" r:id="rId24"/>
    <p:sldId id="286" r:id="rId25"/>
    <p:sldId id="287" r:id="rId26"/>
    <p:sldId id="264" r:id="rId27"/>
  </p:sldIdLst>
  <p:sldSz cx="9105900" cy="5124450"/>
  <p:notesSz cx="9105900" cy="51244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73"/>
    <p:restoredTop sz="93705"/>
  </p:normalViewPr>
  <p:slideViewPr>
    <p:cSldViewPr>
      <p:cViewPr varScale="1">
        <p:scale>
          <a:sx n="78" d="100"/>
          <a:sy n="78" d="100"/>
        </p:scale>
        <p:origin x="1056"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46525"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57788" y="0"/>
            <a:ext cx="3946525" cy="257175"/>
          </a:xfrm>
          <a:prstGeom prst="rect">
            <a:avLst/>
          </a:prstGeom>
        </p:spPr>
        <p:txBody>
          <a:bodyPr vert="horz" lIns="91440" tIns="45720" rIns="91440" bIns="45720" rtlCol="0"/>
          <a:lstStyle>
            <a:lvl1pPr algn="r">
              <a:defRPr sz="1200"/>
            </a:lvl1pPr>
          </a:lstStyle>
          <a:p>
            <a:fld id="{6F69AD44-E9E5-4EFE-B1E5-68406419B88B}" type="datetimeFigureOut">
              <a:rPr lang="en-US" smtClean="0"/>
              <a:t>3/23/2026</a:t>
            </a:fld>
            <a:endParaRPr lang="en-US"/>
          </a:p>
        </p:txBody>
      </p:sp>
      <p:sp>
        <p:nvSpPr>
          <p:cNvPr id="4" name="Slide Image Placeholder 3"/>
          <p:cNvSpPr>
            <a:spLocks noGrp="1" noRot="1" noChangeAspect="1"/>
          </p:cNvSpPr>
          <p:nvPr>
            <p:ph type="sldImg" idx="2"/>
          </p:nvPr>
        </p:nvSpPr>
        <p:spPr>
          <a:xfrm>
            <a:off x="3016250" y="641350"/>
            <a:ext cx="3073400" cy="17287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1225" y="2465388"/>
            <a:ext cx="7283450" cy="20193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67275"/>
            <a:ext cx="3946525"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57788" y="4867275"/>
            <a:ext cx="3946525" cy="257175"/>
          </a:xfrm>
          <a:prstGeom prst="rect">
            <a:avLst/>
          </a:prstGeom>
        </p:spPr>
        <p:txBody>
          <a:bodyPr vert="horz" lIns="91440" tIns="45720" rIns="91440" bIns="45720" rtlCol="0" anchor="b"/>
          <a:lstStyle>
            <a:lvl1pPr algn="r">
              <a:defRPr sz="1200"/>
            </a:lvl1pPr>
          </a:lstStyle>
          <a:p>
            <a:fld id="{C1F98ABE-08B7-4AD3-83DA-E37F7EFC62FA}" type="slidenum">
              <a:rPr lang="en-US" smtClean="0"/>
              <a:t>‹#›</a:t>
            </a:fld>
            <a:endParaRPr lang="en-US"/>
          </a:p>
        </p:txBody>
      </p:sp>
    </p:spTree>
    <p:extLst>
      <p:ext uri="{BB962C8B-B14F-4D97-AF65-F5344CB8AC3E}">
        <p14:creationId xmlns:p14="http://schemas.microsoft.com/office/powerpoint/2010/main" val="597618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F98ABE-08B7-4AD3-83DA-E37F7EFC62FA}" type="slidenum">
              <a:rPr lang="en-US" smtClean="0"/>
              <a:t>2</a:t>
            </a:fld>
            <a:endParaRPr lang="en-US"/>
          </a:p>
        </p:txBody>
      </p:sp>
    </p:spTree>
    <p:extLst>
      <p:ext uri="{BB962C8B-B14F-4D97-AF65-F5344CB8AC3E}">
        <p14:creationId xmlns:p14="http://schemas.microsoft.com/office/powerpoint/2010/main" val="1693350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0553-905F-CDE0-9AF4-FDD2DBC23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60D26-7A62-1BB4-5916-2D53A9867C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8C3716-CC14-93EF-E746-24DCBE2CB8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C04F00-714A-9504-4279-3AD2783A006B}"/>
              </a:ext>
            </a:extLst>
          </p:cNvPr>
          <p:cNvSpPr>
            <a:spLocks noGrp="1"/>
          </p:cNvSpPr>
          <p:nvPr>
            <p:ph type="sldNum" sz="quarter" idx="5"/>
          </p:nvPr>
        </p:nvSpPr>
        <p:spPr/>
        <p:txBody>
          <a:bodyPr/>
          <a:lstStyle/>
          <a:p>
            <a:fld id="{C1F98ABE-08B7-4AD3-83DA-E37F7EFC62FA}" type="slidenum">
              <a:rPr lang="en-US" smtClean="0"/>
              <a:t>3</a:t>
            </a:fld>
            <a:endParaRPr lang="en-US"/>
          </a:p>
        </p:txBody>
      </p:sp>
    </p:spTree>
    <p:extLst>
      <p:ext uri="{BB962C8B-B14F-4D97-AF65-F5344CB8AC3E}">
        <p14:creationId xmlns:p14="http://schemas.microsoft.com/office/powerpoint/2010/main" val="1195357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532EE-4A43-3DC1-3238-9C82C35B8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B8032-8175-9153-8C16-A6642677B6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EDAE61-117B-7B23-6636-44D2861C1D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B9EB2E-CAE7-AC79-986E-D63C4453F041}"/>
              </a:ext>
            </a:extLst>
          </p:cNvPr>
          <p:cNvSpPr>
            <a:spLocks noGrp="1"/>
          </p:cNvSpPr>
          <p:nvPr>
            <p:ph type="sldNum" sz="quarter" idx="5"/>
          </p:nvPr>
        </p:nvSpPr>
        <p:spPr/>
        <p:txBody>
          <a:bodyPr/>
          <a:lstStyle/>
          <a:p>
            <a:fld id="{C1F98ABE-08B7-4AD3-83DA-E37F7EFC62FA}" type="slidenum">
              <a:rPr lang="en-US" smtClean="0"/>
              <a:t>4</a:t>
            </a:fld>
            <a:endParaRPr lang="en-US"/>
          </a:p>
        </p:txBody>
      </p:sp>
    </p:spTree>
    <p:extLst>
      <p:ext uri="{BB962C8B-B14F-4D97-AF65-F5344CB8AC3E}">
        <p14:creationId xmlns:p14="http://schemas.microsoft.com/office/powerpoint/2010/main" val="3440337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F3AE2-DDC3-A550-00BC-308D2815B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65124-025B-6E40-2A15-D8CBEFE763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C93AB7-A623-2908-3E3F-30A2D317E1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FD17B-B1CE-936D-F425-F2BB21A442CE}"/>
              </a:ext>
            </a:extLst>
          </p:cNvPr>
          <p:cNvSpPr>
            <a:spLocks noGrp="1"/>
          </p:cNvSpPr>
          <p:nvPr>
            <p:ph type="sldNum" sz="quarter" idx="5"/>
          </p:nvPr>
        </p:nvSpPr>
        <p:spPr/>
        <p:txBody>
          <a:bodyPr/>
          <a:lstStyle/>
          <a:p>
            <a:fld id="{C1F98ABE-08B7-4AD3-83DA-E37F7EFC62FA}" type="slidenum">
              <a:rPr lang="en-US" smtClean="0"/>
              <a:t>5</a:t>
            </a:fld>
            <a:endParaRPr lang="en-US"/>
          </a:p>
        </p:txBody>
      </p:sp>
    </p:spTree>
    <p:extLst>
      <p:ext uri="{BB962C8B-B14F-4D97-AF65-F5344CB8AC3E}">
        <p14:creationId xmlns:p14="http://schemas.microsoft.com/office/powerpoint/2010/main" val="722766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4D3F5-D348-DAD7-1F7C-38852644B5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8CB21-948C-7137-2672-678537E215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3353B6-7DE0-91E1-A49A-109194A698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93C059-44BF-EF14-27E8-F7D1A85201F2}"/>
              </a:ext>
            </a:extLst>
          </p:cNvPr>
          <p:cNvSpPr>
            <a:spLocks noGrp="1"/>
          </p:cNvSpPr>
          <p:nvPr>
            <p:ph type="sldNum" sz="quarter" idx="5"/>
          </p:nvPr>
        </p:nvSpPr>
        <p:spPr/>
        <p:txBody>
          <a:bodyPr/>
          <a:lstStyle/>
          <a:p>
            <a:fld id="{C1F98ABE-08B7-4AD3-83DA-E37F7EFC62FA}" type="slidenum">
              <a:rPr lang="en-US" smtClean="0"/>
              <a:t>6</a:t>
            </a:fld>
            <a:endParaRPr lang="en-US"/>
          </a:p>
        </p:txBody>
      </p:sp>
    </p:spTree>
    <p:extLst>
      <p:ext uri="{BB962C8B-B14F-4D97-AF65-F5344CB8AC3E}">
        <p14:creationId xmlns:p14="http://schemas.microsoft.com/office/powerpoint/2010/main" val="2734854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AA88-7F9B-074D-A5B3-30E84B4A4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D1599-F54B-67BD-4915-0427B1F5C3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F3927C-15B6-A64B-71FC-4216CB9FC5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11FD20-E316-359D-A854-3006566011E2}"/>
              </a:ext>
            </a:extLst>
          </p:cNvPr>
          <p:cNvSpPr>
            <a:spLocks noGrp="1"/>
          </p:cNvSpPr>
          <p:nvPr>
            <p:ph type="sldNum" sz="quarter" idx="5"/>
          </p:nvPr>
        </p:nvSpPr>
        <p:spPr/>
        <p:txBody>
          <a:bodyPr/>
          <a:lstStyle/>
          <a:p>
            <a:fld id="{C1F98ABE-08B7-4AD3-83DA-E37F7EFC62FA}" type="slidenum">
              <a:rPr lang="en-US" smtClean="0"/>
              <a:t>7</a:t>
            </a:fld>
            <a:endParaRPr lang="en-US"/>
          </a:p>
        </p:txBody>
      </p:sp>
    </p:spTree>
    <p:extLst>
      <p:ext uri="{BB962C8B-B14F-4D97-AF65-F5344CB8AC3E}">
        <p14:creationId xmlns:p14="http://schemas.microsoft.com/office/powerpoint/2010/main" val="1272465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DBD1-9914-C8CA-541F-D1ADCD8C0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D5568-92CA-3E64-5A2C-BCD6A234E7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61998A-64CD-4338-E69D-A5406A45CC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07D79-AACA-D238-B312-E23CF4302FC1}"/>
              </a:ext>
            </a:extLst>
          </p:cNvPr>
          <p:cNvSpPr>
            <a:spLocks noGrp="1"/>
          </p:cNvSpPr>
          <p:nvPr>
            <p:ph type="sldNum" sz="quarter" idx="5"/>
          </p:nvPr>
        </p:nvSpPr>
        <p:spPr/>
        <p:txBody>
          <a:bodyPr/>
          <a:lstStyle/>
          <a:p>
            <a:fld id="{C1F98ABE-08B7-4AD3-83DA-E37F7EFC62FA}" type="slidenum">
              <a:rPr lang="en-US" smtClean="0"/>
              <a:t>8</a:t>
            </a:fld>
            <a:endParaRPr lang="en-US"/>
          </a:p>
        </p:txBody>
      </p:sp>
    </p:spTree>
    <p:extLst>
      <p:ext uri="{BB962C8B-B14F-4D97-AF65-F5344CB8AC3E}">
        <p14:creationId xmlns:p14="http://schemas.microsoft.com/office/powerpoint/2010/main" val="3218940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00C1B-04FC-7102-9195-8164AC1BF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AC2FB-24B7-5D9E-D680-0D9EF32E03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B53EBF-F6E0-1583-5675-E815B51FA9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BC2C27-8CB2-522F-BE05-01AC0975E169}"/>
              </a:ext>
            </a:extLst>
          </p:cNvPr>
          <p:cNvSpPr>
            <a:spLocks noGrp="1"/>
          </p:cNvSpPr>
          <p:nvPr>
            <p:ph type="sldNum" sz="quarter" idx="5"/>
          </p:nvPr>
        </p:nvSpPr>
        <p:spPr/>
        <p:txBody>
          <a:bodyPr/>
          <a:lstStyle/>
          <a:p>
            <a:fld id="{C1F98ABE-08B7-4AD3-83DA-E37F7EFC62FA}" type="slidenum">
              <a:rPr lang="en-US" smtClean="0"/>
              <a:t>9</a:t>
            </a:fld>
            <a:endParaRPr lang="en-US"/>
          </a:p>
        </p:txBody>
      </p:sp>
    </p:spTree>
    <p:extLst>
      <p:ext uri="{BB962C8B-B14F-4D97-AF65-F5344CB8AC3E}">
        <p14:creationId xmlns:p14="http://schemas.microsoft.com/office/powerpoint/2010/main" val="523989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B6869-BC16-D278-8EA6-227FF7978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5D5C3-D28F-9CA3-4AF1-84807C11DC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DBD296-F1C4-1FF7-0263-204EE67174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B29E65-0A41-F02F-8069-DA30159478F1}"/>
              </a:ext>
            </a:extLst>
          </p:cNvPr>
          <p:cNvSpPr>
            <a:spLocks noGrp="1"/>
          </p:cNvSpPr>
          <p:nvPr>
            <p:ph type="sldNum" sz="quarter" idx="5"/>
          </p:nvPr>
        </p:nvSpPr>
        <p:spPr/>
        <p:txBody>
          <a:bodyPr/>
          <a:lstStyle/>
          <a:p>
            <a:fld id="{C1F98ABE-08B7-4AD3-83DA-E37F7EFC62FA}" type="slidenum">
              <a:rPr lang="en-US" smtClean="0"/>
              <a:t>10</a:t>
            </a:fld>
            <a:endParaRPr lang="en-US"/>
          </a:p>
        </p:txBody>
      </p:sp>
    </p:spTree>
    <p:extLst>
      <p:ext uri="{BB962C8B-B14F-4D97-AF65-F5344CB8AC3E}">
        <p14:creationId xmlns:p14="http://schemas.microsoft.com/office/powerpoint/2010/main" val="1025018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29228-CA2F-A131-8CF4-DA6156A63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65E1C-B9BC-54E7-6969-041B138A04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74DB62-B6F4-E6A2-352D-E87E7749C6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3B905A-86BE-2D5A-3C18-D6B6DD9065BA}"/>
              </a:ext>
            </a:extLst>
          </p:cNvPr>
          <p:cNvSpPr>
            <a:spLocks noGrp="1"/>
          </p:cNvSpPr>
          <p:nvPr>
            <p:ph type="sldNum" sz="quarter" idx="5"/>
          </p:nvPr>
        </p:nvSpPr>
        <p:spPr/>
        <p:txBody>
          <a:bodyPr/>
          <a:lstStyle/>
          <a:p>
            <a:fld id="{C1F98ABE-08B7-4AD3-83DA-E37F7EFC62FA}" type="slidenum">
              <a:rPr lang="en-US" smtClean="0"/>
              <a:t>11</a:t>
            </a:fld>
            <a:endParaRPr lang="en-US"/>
          </a:p>
        </p:txBody>
      </p:sp>
    </p:spTree>
    <p:extLst>
      <p:ext uri="{BB962C8B-B14F-4D97-AF65-F5344CB8AC3E}">
        <p14:creationId xmlns:p14="http://schemas.microsoft.com/office/powerpoint/2010/main" val="2853639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04FFA-6759-45F3-3DDC-51F6B67D6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B9C45-64D0-90E9-A80A-8766A78057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7E8A25-AA40-3B59-0864-8CCF4F79C1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08170C-6A0E-F1EB-0D51-90F77BDBBFBA}"/>
              </a:ext>
            </a:extLst>
          </p:cNvPr>
          <p:cNvSpPr>
            <a:spLocks noGrp="1"/>
          </p:cNvSpPr>
          <p:nvPr>
            <p:ph type="sldNum" sz="quarter" idx="5"/>
          </p:nvPr>
        </p:nvSpPr>
        <p:spPr/>
        <p:txBody>
          <a:bodyPr/>
          <a:lstStyle/>
          <a:p>
            <a:fld id="{C1F98ABE-08B7-4AD3-83DA-E37F7EFC62FA}" type="slidenum">
              <a:rPr lang="en-US" smtClean="0"/>
              <a:t>12</a:t>
            </a:fld>
            <a:endParaRPr lang="en-US"/>
          </a:p>
        </p:txBody>
      </p:sp>
    </p:spTree>
    <p:extLst>
      <p:ext uri="{BB962C8B-B14F-4D97-AF65-F5344CB8AC3E}">
        <p14:creationId xmlns:p14="http://schemas.microsoft.com/office/powerpoint/2010/main" val="2951810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CDF0-A9E6-7492-242C-0AA7C6646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D8B7A-CC08-3759-C54F-789A37C0CF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F33EFFF-516E-B6AE-626A-E990F5B530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A7DD2D-B4E4-8A01-50E8-1F7C96A218E0}"/>
              </a:ext>
            </a:extLst>
          </p:cNvPr>
          <p:cNvSpPr>
            <a:spLocks noGrp="1"/>
          </p:cNvSpPr>
          <p:nvPr>
            <p:ph type="sldNum" sz="quarter" idx="5"/>
          </p:nvPr>
        </p:nvSpPr>
        <p:spPr/>
        <p:txBody>
          <a:bodyPr/>
          <a:lstStyle/>
          <a:p>
            <a:fld id="{C1F98ABE-08B7-4AD3-83DA-E37F7EFC62FA}" type="slidenum">
              <a:rPr lang="en-US" smtClean="0"/>
              <a:t>13</a:t>
            </a:fld>
            <a:endParaRPr lang="en-US"/>
          </a:p>
        </p:txBody>
      </p:sp>
    </p:spTree>
    <p:extLst>
      <p:ext uri="{BB962C8B-B14F-4D97-AF65-F5344CB8AC3E}">
        <p14:creationId xmlns:p14="http://schemas.microsoft.com/office/powerpoint/2010/main" val="1125435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CDFB8-915C-1F8B-37C6-7E6AD339D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E6090-D82A-D883-51AE-8984DEC247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3CD530-97B2-A94A-6F12-17D4E1CA3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C1C612-5A53-DFF3-C59A-2126C2233EA2}"/>
              </a:ext>
            </a:extLst>
          </p:cNvPr>
          <p:cNvSpPr>
            <a:spLocks noGrp="1"/>
          </p:cNvSpPr>
          <p:nvPr>
            <p:ph type="sldNum" sz="quarter" idx="5"/>
          </p:nvPr>
        </p:nvSpPr>
        <p:spPr/>
        <p:txBody>
          <a:bodyPr/>
          <a:lstStyle/>
          <a:p>
            <a:fld id="{C1F98ABE-08B7-4AD3-83DA-E37F7EFC62FA}" type="slidenum">
              <a:rPr lang="en-US" smtClean="0"/>
              <a:t>14</a:t>
            </a:fld>
            <a:endParaRPr lang="en-US"/>
          </a:p>
        </p:txBody>
      </p:sp>
    </p:spTree>
    <p:extLst>
      <p:ext uri="{BB962C8B-B14F-4D97-AF65-F5344CB8AC3E}">
        <p14:creationId xmlns:p14="http://schemas.microsoft.com/office/powerpoint/2010/main" val="1536898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EF521-FDE3-18F5-D5CA-3206EA600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15AA5-5A6C-E1D6-03DD-6E31025715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2E9BEE-2517-DD4F-DF55-728B5EEBA8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3D496-4969-A083-A7EA-1E375B2CCC7A}"/>
              </a:ext>
            </a:extLst>
          </p:cNvPr>
          <p:cNvSpPr>
            <a:spLocks noGrp="1"/>
          </p:cNvSpPr>
          <p:nvPr>
            <p:ph type="sldNum" sz="quarter" idx="5"/>
          </p:nvPr>
        </p:nvSpPr>
        <p:spPr/>
        <p:txBody>
          <a:bodyPr/>
          <a:lstStyle/>
          <a:p>
            <a:fld id="{C1F98ABE-08B7-4AD3-83DA-E37F7EFC62FA}" type="slidenum">
              <a:rPr lang="en-US" smtClean="0"/>
              <a:t>15</a:t>
            </a:fld>
            <a:endParaRPr lang="en-US"/>
          </a:p>
        </p:txBody>
      </p:sp>
    </p:spTree>
    <p:extLst>
      <p:ext uri="{BB962C8B-B14F-4D97-AF65-F5344CB8AC3E}">
        <p14:creationId xmlns:p14="http://schemas.microsoft.com/office/powerpoint/2010/main" val="3928467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A2321-138E-695A-C90E-954E96222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C4F75-8CD2-FB7B-19C1-009DE0A571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7BB040-4190-1913-618E-9ECD10DB9F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6F0E26-26E5-69A5-6089-AE0D34C829DF}"/>
              </a:ext>
            </a:extLst>
          </p:cNvPr>
          <p:cNvSpPr>
            <a:spLocks noGrp="1"/>
          </p:cNvSpPr>
          <p:nvPr>
            <p:ph type="sldNum" sz="quarter" idx="5"/>
          </p:nvPr>
        </p:nvSpPr>
        <p:spPr/>
        <p:txBody>
          <a:bodyPr/>
          <a:lstStyle/>
          <a:p>
            <a:fld id="{C1F98ABE-08B7-4AD3-83DA-E37F7EFC62FA}" type="slidenum">
              <a:rPr lang="en-US" smtClean="0"/>
              <a:t>16</a:t>
            </a:fld>
            <a:endParaRPr lang="en-US"/>
          </a:p>
        </p:txBody>
      </p:sp>
    </p:spTree>
    <p:extLst>
      <p:ext uri="{BB962C8B-B14F-4D97-AF65-F5344CB8AC3E}">
        <p14:creationId xmlns:p14="http://schemas.microsoft.com/office/powerpoint/2010/main" val="2106806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94BE-A3B3-F682-D4FF-2BE740127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5ADE8-53D3-6A13-04AE-7FF3B9B468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2104416-3487-E2C6-E371-04BBBB890B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50F184-2782-ECDC-1435-390C8F689244}"/>
              </a:ext>
            </a:extLst>
          </p:cNvPr>
          <p:cNvSpPr>
            <a:spLocks noGrp="1"/>
          </p:cNvSpPr>
          <p:nvPr>
            <p:ph type="sldNum" sz="quarter" idx="5"/>
          </p:nvPr>
        </p:nvSpPr>
        <p:spPr/>
        <p:txBody>
          <a:bodyPr/>
          <a:lstStyle/>
          <a:p>
            <a:fld id="{C1F98ABE-08B7-4AD3-83DA-E37F7EFC62FA}" type="slidenum">
              <a:rPr lang="en-US" smtClean="0"/>
              <a:t>17</a:t>
            </a:fld>
            <a:endParaRPr lang="en-US"/>
          </a:p>
        </p:txBody>
      </p:sp>
    </p:spTree>
    <p:extLst>
      <p:ext uri="{BB962C8B-B14F-4D97-AF65-F5344CB8AC3E}">
        <p14:creationId xmlns:p14="http://schemas.microsoft.com/office/powerpoint/2010/main" val="802645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0C4B-F714-1B40-4585-34F84BC16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130E0-4719-2A95-8074-DEBAD16637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D43762-9572-8BAC-A792-0B51396FB0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565DDB-1BC6-A335-F433-6CF854B4D11F}"/>
              </a:ext>
            </a:extLst>
          </p:cNvPr>
          <p:cNvSpPr>
            <a:spLocks noGrp="1"/>
          </p:cNvSpPr>
          <p:nvPr>
            <p:ph type="sldNum" sz="quarter" idx="5"/>
          </p:nvPr>
        </p:nvSpPr>
        <p:spPr/>
        <p:txBody>
          <a:bodyPr/>
          <a:lstStyle/>
          <a:p>
            <a:fld id="{C1F98ABE-08B7-4AD3-83DA-E37F7EFC62FA}" type="slidenum">
              <a:rPr lang="en-US" smtClean="0"/>
              <a:t>18</a:t>
            </a:fld>
            <a:endParaRPr lang="en-US"/>
          </a:p>
        </p:txBody>
      </p:sp>
    </p:spTree>
    <p:extLst>
      <p:ext uri="{BB962C8B-B14F-4D97-AF65-F5344CB8AC3E}">
        <p14:creationId xmlns:p14="http://schemas.microsoft.com/office/powerpoint/2010/main" val="3600106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EAA25-DBC7-4DBA-7B1D-B8E6C2529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7329B-4CE6-E7F8-BD89-44E7E6E6DF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41F46C-AE65-AB09-721F-B355F80A21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CBEA11-9470-5066-4798-4A285CF6AECF}"/>
              </a:ext>
            </a:extLst>
          </p:cNvPr>
          <p:cNvSpPr>
            <a:spLocks noGrp="1"/>
          </p:cNvSpPr>
          <p:nvPr>
            <p:ph type="sldNum" sz="quarter" idx="5"/>
          </p:nvPr>
        </p:nvSpPr>
        <p:spPr/>
        <p:txBody>
          <a:bodyPr/>
          <a:lstStyle/>
          <a:p>
            <a:fld id="{C1F98ABE-08B7-4AD3-83DA-E37F7EFC62FA}" type="slidenum">
              <a:rPr lang="en-US" smtClean="0"/>
              <a:t>19</a:t>
            </a:fld>
            <a:endParaRPr lang="en-US"/>
          </a:p>
        </p:txBody>
      </p:sp>
    </p:spTree>
    <p:extLst>
      <p:ext uri="{BB962C8B-B14F-4D97-AF65-F5344CB8AC3E}">
        <p14:creationId xmlns:p14="http://schemas.microsoft.com/office/powerpoint/2010/main" val="3410946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7B50C-BB06-E27A-35AB-E83C7A488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F3320-8F4C-D200-7C11-366403A518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9F5EE5-C2D3-A38B-45B1-1015DB4AC2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DA01F8-AD61-3C0B-A92B-BC61B92148D5}"/>
              </a:ext>
            </a:extLst>
          </p:cNvPr>
          <p:cNvSpPr>
            <a:spLocks noGrp="1"/>
          </p:cNvSpPr>
          <p:nvPr>
            <p:ph type="sldNum" sz="quarter" idx="5"/>
          </p:nvPr>
        </p:nvSpPr>
        <p:spPr/>
        <p:txBody>
          <a:bodyPr/>
          <a:lstStyle/>
          <a:p>
            <a:fld id="{C1F98ABE-08B7-4AD3-83DA-E37F7EFC62FA}" type="slidenum">
              <a:rPr lang="en-US" smtClean="0"/>
              <a:t>20</a:t>
            </a:fld>
            <a:endParaRPr lang="en-US"/>
          </a:p>
        </p:txBody>
      </p:sp>
    </p:spTree>
    <p:extLst>
      <p:ext uri="{BB962C8B-B14F-4D97-AF65-F5344CB8AC3E}">
        <p14:creationId xmlns:p14="http://schemas.microsoft.com/office/powerpoint/2010/main" val="3093458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15B25-2EA9-CE7D-963E-C4D1DAE53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F8CFF-851F-AEEE-D3FC-AD0B47EEA9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90F55B-1D7D-F4C8-3641-815551F10F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8B6650-373C-60F5-C35B-9F95E09EA797}"/>
              </a:ext>
            </a:extLst>
          </p:cNvPr>
          <p:cNvSpPr>
            <a:spLocks noGrp="1"/>
          </p:cNvSpPr>
          <p:nvPr>
            <p:ph type="sldNum" sz="quarter" idx="5"/>
          </p:nvPr>
        </p:nvSpPr>
        <p:spPr/>
        <p:txBody>
          <a:bodyPr/>
          <a:lstStyle/>
          <a:p>
            <a:fld id="{C1F98ABE-08B7-4AD3-83DA-E37F7EFC62FA}" type="slidenum">
              <a:rPr lang="en-US" smtClean="0"/>
              <a:t>21</a:t>
            </a:fld>
            <a:endParaRPr lang="en-US"/>
          </a:p>
        </p:txBody>
      </p:sp>
    </p:spTree>
    <p:extLst>
      <p:ext uri="{BB962C8B-B14F-4D97-AF65-F5344CB8AC3E}">
        <p14:creationId xmlns:p14="http://schemas.microsoft.com/office/powerpoint/2010/main" val="874398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31960-BFDA-AF08-6F5B-C4AB54B22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DF68F-858C-C047-F271-27442EC7A7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3373D9-F034-0C68-D711-F94ACBAAEF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54472B-D94F-A86E-9DDE-2CD4F11CAF0B}"/>
              </a:ext>
            </a:extLst>
          </p:cNvPr>
          <p:cNvSpPr>
            <a:spLocks noGrp="1"/>
          </p:cNvSpPr>
          <p:nvPr>
            <p:ph type="sldNum" sz="quarter" idx="5"/>
          </p:nvPr>
        </p:nvSpPr>
        <p:spPr/>
        <p:txBody>
          <a:bodyPr/>
          <a:lstStyle/>
          <a:p>
            <a:fld id="{C1F98ABE-08B7-4AD3-83DA-E37F7EFC62FA}" type="slidenum">
              <a:rPr lang="en-US" smtClean="0"/>
              <a:t>22</a:t>
            </a:fld>
            <a:endParaRPr lang="en-US"/>
          </a:p>
        </p:txBody>
      </p:sp>
    </p:spTree>
    <p:extLst>
      <p:ext uri="{BB962C8B-B14F-4D97-AF65-F5344CB8AC3E}">
        <p14:creationId xmlns:p14="http://schemas.microsoft.com/office/powerpoint/2010/main" val="1690602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891F2-AB5F-AD89-6649-B676D19EC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166DD-1BBD-D208-FC2B-F00CDE2370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A3FF34-CAA2-F312-5CBC-C0D2A58F10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1F872-1879-6F1F-F332-6EB3DF7D9218}"/>
              </a:ext>
            </a:extLst>
          </p:cNvPr>
          <p:cNvSpPr>
            <a:spLocks noGrp="1"/>
          </p:cNvSpPr>
          <p:nvPr>
            <p:ph type="sldNum" sz="quarter" idx="5"/>
          </p:nvPr>
        </p:nvSpPr>
        <p:spPr/>
        <p:txBody>
          <a:bodyPr/>
          <a:lstStyle/>
          <a:p>
            <a:fld id="{C1F98ABE-08B7-4AD3-83DA-E37F7EFC62FA}" type="slidenum">
              <a:rPr lang="en-US" smtClean="0"/>
              <a:t>23</a:t>
            </a:fld>
            <a:endParaRPr lang="en-US"/>
          </a:p>
        </p:txBody>
      </p:sp>
    </p:spTree>
    <p:extLst>
      <p:ext uri="{BB962C8B-B14F-4D97-AF65-F5344CB8AC3E}">
        <p14:creationId xmlns:p14="http://schemas.microsoft.com/office/powerpoint/2010/main" val="2740935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84CE9-2B84-9DBA-23DA-A8BDDD0D0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7459E-636C-DFC2-18A4-D40E40B572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3E75F9-6753-DA8A-B3D1-E385E7A44D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E86971-7787-03F7-09F2-04D30D71E92C}"/>
              </a:ext>
            </a:extLst>
          </p:cNvPr>
          <p:cNvSpPr>
            <a:spLocks noGrp="1"/>
          </p:cNvSpPr>
          <p:nvPr>
            <p:ph type="sldNum" sz="quarter" idx="5"/>
          </p:nvPr>
        </p:nvSpPr>
        <p:spPr/>
        <p:txBody>
          <a:bodyPr/>
          <a:lstStyle/>
          <a:p>
            <a:fld id="{C1F98ABE-08B7-4AD3-83DA-E37F7EFC62FA}" type="slidenum">
              <a:rPr lang="en-US" smtClean="0"/>
              <a:t>24</a:t>
            </a:fld>
            <a:endParaRPr lang="en-US"/>
          </a:p>
        </p:txBody>
      </p:sp>
    </p:spTree>
    <p:extLst>
      <p:ext uri="{BB962C8B-B14F-4D97-AF65-F5344CB8AC3E}">
        <p14:creationId xmlns:p14="http://schemas.microsoft.com/office/powerpoint/2010/main" val="432902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CD591-4CA0-D9E1-A1C7-641AB5567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A031C-D21B-4E43-1855-5A8E7A1D88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8C65FF-F7E5-3382-2BDE-0DED10CD9E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07ECAD-7633-6DE7-318D-41550931A3D8}"/>
              </a:ext>
            </a:extLst>
          </p:cNvPr>
          <p:cNvSpPr>
            <a:spLocks noGrp="1"/>
          </p:cNvSpPr>
          <p:nvPr>
            <p:ph type="sldNum" sz="quarter" idx="5"/>
          </p:nvPr>
        </p:nvSpPr>
        <p:spPr/>
        <p:txBody>
          <a:bodyPr/>
          <a:lstStyle/>
          <a:p>
            <a:fld id="{C1F98ABE-08B7-4AD3-83DA-E37F7EFC62FA}" type="slidenum">
              <a:rPr lang="en-US" smtClean="0"/>
              <a:t>25</a:t>
            </a:fld>
            <a:endParaRPr lang="en-US"/>
          </a:p>
        </p:txBody>
      </p:sp>
    </p:spTree>
    <p:extLst>
      <p:ext uri="{BB962C8B-B14F-4D97-AF65-F5344CB8AC3E}">
        <p14:creationId xmlns:p14="http://schemas.microsoft.com/office/powerpoint/2010/main" val="38320702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21"/>
            <a:ext cx="9105900" cy="47646"/>
          </a:xfrm>
          <a:prstGeom prst="rect">
            <a:avLst/>
          </a:prstGeom>
        </p:spPr>
      </p:pic>
      <p:pic>
        <p:nvPicPr>
          <p:cNvPr id="17" name="bg object 17"/>
          <p:cNvPicPr/>
          <p:nvPr/>
        </p:nvPicPr>
        <p:blipFill>
          <a:blip r:embed="rId3" cstate="print"/>
          <a:stretch>
            <a:fillRect/>
          </a:stretch>
        </p:blipFill>
        <p:spPr>
          <a:xfrm>
            <a:off x="775792" y="973582"/>
            <a:ext cx="4076750" cy="400176"/>
          </a:xfrm>
          <a:prstGeom prst="rect">
            <a:avLst/>
          </a:prstGeom>
        </p:spPr>
      </p:pic>
      <p:pic>
        <p:nvPicPr>
          <p:cNvPr id="18" name="bg object 18"/>
          <p:cNvPicPr/>
          <p:nvPr/>
        </p:nvPicPr>
        <p:blipFill>
          <a:blip r:embed="rId4" cstate="print"/>
          <a:stretch>
            <a:fillRect/>
          </a:stretch>
        </p:blipFill>
        <p:spPr>
          <a:xfrm>
            <a:off x="5162550" y="743242"/>
            <a:ext cx="1314450" cy="762342"/>
          </a:xfrm>
          <a:prstGeom prst="rect">
            <a:avLst/>
          </a:prstGeom>
        </p:spPr>
      </p:pic>
      <p:pic>
        <p:nvPicPr>
          <p:cNvPr id="19" name="bg object 19"/>
          <p:cNvPicPr/>
          <p:nvPr/>
        </p:nvPicPr>
        <p:blipFill>
          <a:blip r:embed="rId5" cstate="print"/>
          <a:stretch>
            <a:fillRect/>
          </a:stretch>
        </p:blipFill>
        <p:spPr>
          <a:xfrm>
            <a:off x="0" y="743242"/>
            <a:ext cx="590550" cy="762342"/>
          </a:xfrm>
          <a:prstGeom prst="rect">
            <a:avLst/>
          </a:prstGeom>
        </p:spPr>
      </p:pic>
      <p:sp>
        <p:nvSpPr>
          <p:cNvPr id="20" name="bg object 20"/>
          <p:cNvSpPr/>
          <p:nvPr/>
        </p:nvSpPr>
        <p:spPr>
          <a:xfrm>
            <a:off x="7181850" y="9522"/>
            <a:ext cx="1924050" cy="5117465"/>
          </a:xfrm>
          <a:custGeom>
            <a:avLst/>
            <a:gdLst/>
            <a:ahLst/>
            <a:cxnLst/>
            <a:rect l="l" t="t" r="r" b="b"/>
            <a:pathLst>
              <a:path w="1924050" h="5117465">
                <a:moveTo>
                  <a:pt x="1924050" y="0"/>
                </a:moveTo>
                <a:lnTo>
                  <a:pt x="0" y="0"/>
                </a:lnTo>
                <a:lnTo>
                  <a:pt x="0" y="5117211"/>
                </a:lnTo>
                <a:lnTo>
                  <a:pt x="1924050" y="5117211"/>
                </a:lnTo>
                <a:lnTo>
                  <a:pt x="1924050" y="0"/>
                </a:lnTo>
                <a:close/>
              </a:path>
            </a:pathLst>
          </a:custGeom>
          <a:solidFill>
            <a:srgbClr val="DDE4F3"/>
          </a:solidFill>
        </p:spPr>
        <p:txBody>
          <a:bodyPr wrap="square" lIns="0" tIns="0" rIns="0" bIns="0" rtlCol="0"/>
          <a:lstStyle/>
          <a:p>
            <a:endParaRPr/>
          </a:p>
        </p:txBody>
      </p:sp>
      <p:sp>
        <p:nvSpPr>
          <p:cNvPr id="21" name="bg object 21"/>
          <p:cNvSpPr/>
          <p:nvPr/>
        </p:nvSpPr>
        <p:spPr>
          <a:xfrm>
            <a:off x="5996051" y="462153"/>
            <a:ext cx="2847975" cy="3926204"/>
          </a:xfrm>
          <a:custGeom>
            <a:avLst/>
            <a:gdLst/>
            <a:ahLst/>
            <a:cxnLst/>
            <a:rect l="l" t="t" r="r" b="b"/>
            <a:pathLst>
              <a:path w="2847975" h="3926204">
                <a:moveTo>
                  <a:pt x="2373249" y="0"/>
                </a:moveTo>
                <a:lnTo>
                  <a:pt x="474599" y="0"/>
                </a:lnTo>
                <a:lnTo>
                  <a:pt x="426071" y="2451"/>
                </a:lnTo>
                <a:lnTo>
                  <a:pt x="378946" y="9647"/>
                </a:lnTo>
                <a:lnTo>
                  <a:pt x="333462" y="21348"/>
                </a:lnTo>
                <a:lnTo>
                  <a:pt x="289857" y="37316"/>
                </a:lnTo>
                <a:lnTo>
                  <a:pt x="248370" y="57312"/>
                </a:lnTo>
                <a:lnTo>
                  <a:pt x="209239" y="81097"/>
                </a:lnTo>
                <a:lnTo>
                  <a:pt x="172704" y="108433"/>
                </a:lnTo>
                <a:lnTo>
                  <a:pt x="139001" y="139080"/>
                </a:lnTo>
                <a:lnTo>
                  <a:pt x="108370" y="172802"/>
                </a:lnTo>
                <a:lnTo>
                  <a:pt x="81050" y="209357"/>
                </a:lnTo>
                <a:lnTo>
                  <a:pt x="57278" y="248509"/>
                </a:lnTo>
                <a:lnTo>
                  <a:pt x="37294" y="290018"/>
                </a:lnTo>
                <a:lnTo>
                  <a:pt x="21335" y="333645"/>
                </a:lnTo>
                <a:lnTo>
                  <a:pt x="9641" y="379153"/>
                </a:lnTo>
                <a:lnTo>
                  <a:pt x="2450" y="426301"/>
                </a:lnTo>
                <a:lnTo>
                  <a:pt x="0" y="474852"/>
                </a:lnTo>
                <a:lnTo>
                  <a:pt x="0" y="3451186"/>
                </a:lnTo>
                <a:lnTo>
                  <a:pt x="2450" y="3499740"/>
                </a:lnTo>
                <a:lnTo>
                  <a:pt x="9641" y="3546891"/>
                </a:lnTo>
                <a:lnTo>
                  <a:pt x="21335" y="3592401"/>
                </a:lnTo>
                <a:lnTo>
                  <a:pt x="37294" y="3636030"/>
                </a:lnTo>
                <a:lnTo>
                  <a:pt x="57278" y="3677541"/>
                </a:lnTo>
                <a:lnTo>
                  <a:pt x="81050" y="3716695"/>
                </a:lnTo>
                <a:lnTo>
                  <a:pt x="108370" y="3753253"/>
                </a:lnTo>
                <a:lnTo>
                  <a:pt x="139001" y="3786976"/>
                </a:lnTo>
                <a:lnTo>
                  <a:pt x="172704" y="3817626"/>
                </a:lnTo>
                <a:lnTo>
                  <a:pt x="209239" y="3844963"/>
                </a:lnTo>
                <a:lnTo>
                  <a:pt x="248370" y="3868749"/>
                </a:lnTo>
                <a:lnTo>
                  <a:pt x="289857" y="3888746"/>
                </a:lnTo>
                <a:lnTo>
                  <a:pt x="333462" y="3904715"/>
                </a:lnTo>
                <a:lnTo>
                  <a:pt x="378946" y="3916417"/>
                </a:lnTo>
                <a:lnTo>
                  <a:pt x="426071" y="3923613"/>
                </a:lnTo>
                <a:lnTo>
                  <a:pt x="474599" y="3926065"/>
                </a:lnTo>
                <a:lnTo>
                  <a:pt x="2373249" y="3926065"/>
                </a:lnTo>
                <a:lnTo>
                  <a:pt x="2421777" y="3923613"/>
                </a:lnTo>
                <a:lnTo>
                  <a:pt x="2468906" y="3916417"/>
                </a:lnTo>
                <a:lnTo>
                  <a:pt x="2514397" y="3904715"/>
                </a:lnTo>
                <a:lnTo>
                  <a:pt x="2558010" y="3888746"/>
                </a:lnTo>
                <a:lnTo>
                  <a:pt x="2599506" y="3868749"/>
                </a:lnTo>
                <a:lnTo>
                  <a:pt x="2638648" y="3844963"/>
                </a:lnTo>
                <a:lnTo>
                  <a:pt x="2675195" y="3817626"/>
                </a:lnTo>
                <a:lnTo>
                  <a:pt x="2708909" y="3786976"/>
                </a:lnTo>
                <a:lnTo>
                  <a:pt x="2739552" y="3753253"/>
                </a:lnTo>
                <a:lnTo>
                  <a:pt x="2766884" y="3716695"/>
                </a:lnTo>
                <a:lnTo>
                  <a:pt x="2790666" y="3677541"/>
                </a:lnTo>
                <a:lnTo>
                  <a:pt x="2810660" y="3636030"/>
                </a:lnTo>
                <a:lnTo>
                  <a:pt x="2826627" y="3592401"/>
                </a:lnTo>
                <a:lnTo>
                  <a:pt x="2838327" y="3546891"/>
                </a:lnTo>
                <a:lnTo>
                  <a:pt x="2845523" y="3499740"/>
                </a:lnTo>
                <a:lnTo>
                  <a:pt x="2847975" y="3451186"/>
                </a:lnTo>
                <a:lnTo>
                  <a:pt x="2847975" y="474852"/>
                </a:lnTo>
                <a:lnTo>
                  <a:pt x="2845523" y="426301"/>
                </a:lnTo>
                <a:lnTo>
                  <a:pt x="2838327" y="379153"/>
                </a:lnTo>
                <a:lnTo>
                  <a:pt x="2826627" y="333645"/>
                </a:lnTo>
                <a:lnTo>
                  <a:pt x="2810660" y="290018"/>
                </a:lnTo>
                <a:lnTo>
                  <a:pt x="2790666" y="248509"/>
                </a:lnTo>
                <a:lnTo>
                  <a:pt x="2766884" y="209357"/>
                </a:lnTo>
                <a:lnTo>
                  <a:pt x="2739552" y="172802"/>
                </a:lnTo>
                <a:lnTo>
                  <a:pt x="2708910" y="139080"/>
                </a:lnTo>
                <a:lnTo>
                  <a:pt x="2675195" y="108433"/>
                </a:lnTo>
                <a:lnTo>
                  <a:pt x="2638648" y="81097"/>
                </a:lnTo>
                <a:lnTo>
                  <a:pt x="2599506" y="57312"/>
                </a:lnTo>
                <a:lnTo>
                  <a:pt x="2558010" y="37316"/>
                </a:lnTo>
                <a:lnTo>
                  <a:pt x="2514397" y="21348"/>
                </a:lnTo>
                <a:lnTo>
                  <a:pt x="2468906" y="9647"/>
                </a:lnTo>
                <a:lnTo>
                  <a:pt x="2421777" y="2451"/>
                </a:lnTo>
                <a:lnTo>
                  <a:pt x="2373249" y="0"/>
                </a:lnTo>
                <a:close/>
              </a:path>
            </a:pathLst>
          </a:custGeom>
          <a:solidFill>
            <a:srgbClr val="FFFFFF"/>
          </a:solidFill>
        </p:spPr>
        <p:txBody>
          <a:bodyPr wrap="square" lIns="0" tIns="0" rIns="0" bIns="0" rtlCol="0"/>
          <a:lstStyle/>
          <a:p>
            <a:endParaRPr/>
          </a:p>
        </p:txBody>
      </p:sp>
      <p:sp>
        <p:nvSpPr>
          <p:cNvPr id="22" name="bg object 22"/>
          <p:cNvSpPr/>
          <p:nvPr/>
        </p:nvSpPr>
        <p:spPr>
          <a:xfrm>
            <a:off x="5996051" y="462153"/>
            <a:ext cx="2847975" cy="3926204"/>
          </a:xfrm>
          <a:custGeom>
            <a:avLst/>
            <a:gdLst/>
            <a:ahLst/>
            <a:cxnLst/>
            <a:rect l="l" t="t" r="r" b="b"/>
            <a:pathLst>
              <a:path w="2847975" h="3926204">
                <a:moveTo>
                  <a:pt x="0" y="474852"/>
                </a:moveTo>
                <a:lnTo>
                  <a:pt x="2450" y="426301"/>
                </a:lnTo>
                <a:lnTo>
                  <a:pt x="9641" y="379153"/>
                </a:lnTo>
                <a:lnTo>
                  <a:pt x="21335" y="333645"/>
                </a:lnTo>
                <a:lnTo>
                  <a:pt x="37294" y="290018"/>
                </a:lnTo>
                <a:lnTo>
                  <a:pt x="57278" y="248509"/>
                </a:lnTo>
                <a:lnTo>
                  <a:pt x="81050" y="209357"/>
                </a:lnTo>
                <a:lnTo>
                  <a:pt x="108370" y="172802"/>
                </a:lnTo>
                <a:lnTo>
                  <a:pt x="139001" y="139080"/>
                </a:lnTo>
                <a:lnTo>
                  <a:pt x="172704" y="108433"/>
                </a:lnTo>
                <a:lnTo>
                  <a:pt x="209239" y="81097"/>
                </a:lnTo>
                <a:lnTo>
                  <a:pt x="248370" y="57312"/>
                </a:lnTo>
                <a:lnTo>
                  <a:pt x="289857" y="37316"/>
                </a:lnTo>
                <a:lnTo>
                  <a:pt x="333462" y="21348"/>
                </a:lnTo>
                <a:lnTo>
                  <a:pt x="378946" y="9647"/>
                </a:lnTo>
                <a:lnTo>
                  <a:pt x="426071" y="2451"/>
                </a:lnTo>
                <a:lnTo>
                  <a:pt x="474599" y="0"/>
                </a:lnTo>
                <a:lnTo>
                  <a:pt x="2373249" y="0"/>
                </a:lnTo>
                <a:lnTo>
                  <a:pt x="2421777" y="2451"/>
                </a:lnTo>
                <a:lnTo>
                  <a:pt x="2468906" y="9647"/>
                </a:lnTo>
                <a:lnTo>
                  <a:pt x="2514397" y="21348"/>
                </a:lnTo>
                <a:lnTo>
                  <a:pt x="2558010" y="37316"/>
                </a:lnTo>
                <a:lnTo>
                  <a:pt x="2599506" y="57312"/>
                </a:lnTo>
                <a:lnTo>
                  <a:pt x="2638648" y="81097"/>
                </a:lnTo>
                <a:lnTo>
                  <a:pt x="2675195" y="108433"/>
                </a:lnTo>
                <a:lnTo>
                  <a:pt x="2708910" y="139080"/>
                </a:lnTo>
                <a:lnTo>
                  <a:pt x="2739552" y="172802"/>
                </a:lnTo>
                <a:lnTo>
                  <a:pt x="2766884" y="209357"/>
                </a:lnTo>
                <a:lnTo>
                  <a:pt x="2790666" y="248509"/>
                </a:lnTo>
                <a:lnTo>
                  <a:pt x="2810660" y="290018"/>
                </a:lnTo>
                <a:lnTo>
                  <a:pt x="2826627" y="333645"/>
                </a:lnTo>
                <a:lnTo>
                  <a:pt x="2838327" y="379153"/>
                </a:lnTo>
                <a:lnTo>
                  <a:pt x="2845523" y="426301"/>
                </a:lnTo>
                <a:lnTo>
                  <a:pt x="2847975" y="474852"/>
                </a:lnTo>
                <a:lnTo>
                  <a:pt x="2847975" y="3451186"/>
                </a:lnTo>
                <a:lnTo>
                  <a:pt x="2845523" y="3499740"/>
                </a:lnTo>
                <a:lnTo>
                  <a:pt x="2838327" y="3546891"/>
                </a:lnTo>
                <a:lnTo>
                  <a:pt x="2826627" y="3592401"/>
                </a:lnTo>
                <a:lnTo>
                  <a:pt x="2810660" y="3636030"/>
                </a:lnTo>
                <a:lnTo>
                  <a:pt x="2790666" y="3677541"/>
                </a:lnTo>
                <a:lnTo>
                  <a:pt x="2766884" y="3716695"/>
                </a:lnTo>
                <a:lnTo>
                  <a:pt x="2739552" y="3753253"/>
                </a:lnTo>
                <a:lnTo>
                  <a:pt x="2708909" y="3786976"/>
                </a:lnTo>
                <a:lnTo>
                  <a:pt x="2675195" y="3817626"/>
                </a:lnTo>
                <a:lnTo>
                  <a:pt x="2638648" y="3844963"/>
                </a:lnTo>
                <a:lnTo>
                  <a:pt x="2599506" y="3868749"/>
                </a:lnTo>
                <a:lnTo>
                  <a:pt x="2558010" y="3888746"/>
                </a:lnTo>
                <a:lnTo>
                  <a:pt x="2514397" y="3904715"/>
                </a:lnTo>
                <a:lnTo>
                  <a:pt x="2468906" y="3916417"/>
                </a:lnTo>
                <a:lnTo>
                  <a:pt x="2421777" y="3923613"/>
                </a:lnTo>
                <a:lnTo>
                  <a:pt x="2373249" y="3926065"/>
                </a:lnTo>
                <a:lnTo>
                  <a:pt x="474599" y="3926065"/>
                </a:lnTo>
                <a:lnTo>
                  <a:pt x="426071" y="3923613"/>
                </a:lnTo>
                <a:lnTo>
                  <a:pt x="378946" y="3916417"/>
                </a:lnTo>
                <a:lnTo>
                  <a:pt x="333462" y="3904715"/>
                </a:lnTo>
                <a:lnTo>
                  <a:pt x="289857" y="3888746"/>
                </a:lnTo>
                <a:lnTo>
                  <a:pt x="248370" y="3868749"/>
                </a:lnTo>
                <a:lnTo>
                  <a:pt x="209239" y="3844963"/>
                </a:lnTo>
                <a:lnTo>
                  <a:pt x="172704" y="3817626"/>
                </a:lnTo>
                <a:lnTo>
                  <a:pt x="139001" y="3786976"/>
                </a:lnTo>
                <a:lnTo>
                  <a:pt x="108370" y="3753253"/>
                </a:lnTo>
                <a:lnTo>
                  <a:pt x="81050" y="3716695"/>
                </a:lnTo>
                <a:lnTo>
                  <a:pt x="57278" y="3677541"/>
                </a:lnTo>
                <a:lnTo>
                  <a:pt x="37294" y="3636030"/>
                </a:lnTo>
                <a:lnTo>
                  <a:pt x="21335" y="3592401"/>
                </a:lnTo>
                <a:lnTo>
                  <a:pt x="9641" y="3546891"/>
                </a:lnTo>
                <a:lnTo>
                  <a:pt x="2450" y="3499740"/>
                </a:lnTo>
                <a:lnTo>
                  <a:pt x="0" y="3451186"/>
                </a:lnTo>
                <a:lnTo>
                  <a:pt x="0" y="474852"/>
                </a:lnTo>
                <a:close/>
              </a:path>
            </a:pathLst>
          </a:custGeom>
          <a:ln w="25415">
            <a:solidFill>
              <a:srgbClr val="E8F3F8"/>
            </a:solidFill>
          </a:ln>
        </p:spPr>
        <p:txBody>
          <a:bodyPr wrap="square" lIns="0" tIns="0" rIns="0" bIns="0" rtlCol="0"/>
          <a:lstStyle/>
          <a:p>
            <a:endParaRPr/>
          </a:p>
        </p:txBody>
      </p:sp>
      <p:sp>
        <p:nvSpPr>
          <p:cNvPr id="2" name="Holder 2"/>
          <p:cNvSpPr>
            <a:spLocks noGrp="1"/>
          </p:cNvSpPr>
          <p:nvPr>
            <p:ph type="ctrTitle"/>
          </p:nvPr>
        </p:nvSpPr>
        <p:spPr>
          <a:xfrm>
            <a:off x="6328028" y="2128138"/>
            <a:ext cx="2170429" cy="335280"/>
          </a:xfrm>
          <a:prstGeom prst="rect">
            <a:avLst/>
          </a:prstGeom>
        </p:spPr>
        <p:txBody>
          <a:bodyPr wrap="square" lIns="0" tIns="0" rIns="0" bIns="0">
            <a:spAutoFit/>
          </a:bodyPr>
          <a:lstStyle>
            <a:lvl1pPr>
              <a:defRPr sz="32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365885" y="2869692"/>
            <a:ext cx="6374130" cy="12811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A6A6A6"/>
                </a:solidFill>
                <a:latin typeface="Trebuchet MS"/>
                <a:cs typeface="Trebuchet MS"/>
              </a:defRPr>
            </a:lvl1p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5" name="Holder 5"/>
          <p:cNvSpPr>
            <a:spLocks noGrp="1"/>
          </p:cNvSpPr>
          <p:nvPr>
            <p:ph type="dt" sz="half" idx="6"/>
          </p:nvPr>
        </p:nvSpPr>
        <p:spPr/>
        <p:txBody>
          <a:bodyPr lIns="0" tIns="0" rIns="0" bIns="0"/>
          <a:lstStyle>
            <a:lvl1pPr>
              <a:defRPr sz="800" b="0" i="0">
                <a:solidFill>
                  <a:srgbClr val="FF0000"/>
                </a:solidFill>
                <a:latin typeface="Trebuchet MS"/>
                <a:cs typeface="Trebuchet MS"/>
              </a:defRPr>
            </a:lvl1p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6" name="Holder 6"/>
          <p:cNvSpPr>
            <a:spLocks noGrp="1"/>
          </p:cNvSpPr>
          <p:nvPr>
            <p:ph type="sldNum" sz="quarter" idx="7"/>
          </p:nvPr>
        </p:nvSpPr>
        <p:spPr/>
        <p:txBody>
          <a:bodyPr lIns="0" tIns="0" rIns="0" bIns="0"/>
          <a:lstStyle>
            <a:lvl1pPr>
              <a:defRPr sz="950" b="0" i="0">
                <a:solidFill>
                  <a:srgbClr val="7E7E7E"/>
                </a:solidFill>
                <a:latin typeface="Trebuchet MS"/>
                <a:cs typeface="Trebuchet MS"/>
              </a:defRPr>
            </a:lvl1pPr>
          </a:lstStyle>
          <a:p>
            <a:pPr marL="381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A6A6A6"/>
                </a:solidFill>
                <a:latin typeface="Trebuchet MS"/>
                <a:cs typeface="Trebuchet MS"/>
              </a:defRPr>
            </a:lvl1p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5" name="Holder 5"/>
          <p:cNvSpPr>
            <a:spLocks noGrp="1"/>
          </p:cNvSpPr>
          <p:nvPr>
            <p:ph type="dt" sz="half" idx="6"/>
          </p:nvPr>
        </p:nvSpPr>
        <p:spPr/>
        <p:txBody>
          <a:bodyPr lIns="0" tIns="0" rIns="0" bIns="0"/>
          <a:lstStyle>
            <a:lvl1pPr>
              <a:defRPr sz="800" b="0" i="0">
                <a:solidFill>
                  <a:srgbClr val="FF0000"/>
                </a:solidFill>
                <a:latin typeface="Trebuchet MS"/>
                <a:cs typeface="Trebuchet MS"/>
              </a:defRPr>
            </a:lvl1p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6" name="Holder 6"/>
          <p:cNvSpPr>
            <a:spLocks noGrp="1"/>
          </p:cNvSpPr>
          <p:nvPr>
            <p:ph type="sldNum" sz="quarter" idx="7"/>
          </p:nvPr>
        </p:nvSpPr>
        <p:spPr/>
        <p:txBody>
          <a:bodyPr lIns="0" tIns="0" rIns="0" bIns="0"/>
          <a:lstStyle>
            <a:lvl1pPr>
              <a:defRPr sz="950" b="0" i="0">
                <a:solidFill>
                  <a:srgbClr val="7E7E7E"/>
                </a:solidFill>
                <a:latin typeface="Trebuchet MS"/>
                <a:cs typeface="Trebuchet MS"/>
              </a:defRPr>
            </a:lvl1pPr>
          </a:lstStyle>
          <a:p>
            <a:pPr marL="381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455295" y="1178623"/>
            <a:ext cx="3961066" cy="338213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689538" y="1178623"/>
            <a:ext cx="3961066" cy="338213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A6A6A6"/>
                </a:solidFill>
                <a:latin typeface="Trebuchet MS"/>
                <a:cs typeface="Trebuchet MS"/>
              </a:defRPr>
            </a:lvl1p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6" name="Holder 6"/>
          <p:cNvSpPr>
            <a:spLocks noGrp="1"/>
          </p:cNvSpPr>
          <p:nvPr>
            <p:ph type="dt" sz="half" idx="6"/>
          </p:nvPr>
        </p:nvSpPr>
        <p:spPr/>
        <p:txBody>
          <a:bodyPr lIns="0" tIns="0" rIns="0" bIns="0"/>
          <a:lstStyle>
            <a:lvl1pPr>
              <a:defRPr sz="800" b="0" i="0">
                <a:solidFill>
                  <a:srgbClr val="FF0000"/>
                </a:solidFill>
                <a:latin typeface="Trebuchet MS"/>
                <a:cs typeface="Trebuchet MS"/>
              </a:defRPr>
            </a:lvl1p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7" name="Holder 7"/>
          <p:cNvSpPr>
            <a:spLocks noGrp="1"/>
          </p:cNvSpPr>
          <p:nvPr>
            <p:ph type="sldNum" sz="quarter" idx="7"/>
          </p:nvPr>
        </p:nvSpPr>
        <p:spPr/>
        <p:txBody>
          <a:bodyPr lIns="0" tIns="0" rIns="0" bIns="0"/>
          <a:lstStyle>
            <a:lvl1pPr>
              <a:defRPr sz="950" b="0" i="0">
                <a:solidFill>
                  <a:srgbClr val="7E7E7E"/>
                </a:solidFill>
                <a:latin typeface="Trebuchet MS"/>
                <a:cs typeface="Trebuchet MS"/>
              </a:defRPr>
            </a:lvl1pPr>
          </a:lstStyle>
          <a:p>
            <a:pPr marL="381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A6A6A6"/>
                </a:solidFill>
                <a:latin typeface="Trebuchet MS"/>
                <a:cs typeface="Trebuchet MS"/>
              </a:defRPr>
            </a:lvl1p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4" name="Holder 4"/>
          <p:cNvSpPr>
            <a:spLocks noGrp="1"/>
          </p:cNvSpPr>
          <p:nvPr>
            <p:ph type="dt" sz="half" idx="6"/>
          </p:nvPr>
        </p:nvSpPr>
        <p:spPr/>
        <p:txBody>
          <a:bodyPr lIns="0" tIns="0" rIns="0" bIns="0"/>
          <a:lstStyle>
            <a:lvl1pPr>
              <a:defRPr sz="800" b="0" i="0">
                <a:solidFill>
                  <a:srgbClr val="FF0000"/>
                </a:solidFill>
                <a:latin typeface="Trebuchet MS"/>
                <a:cs typeface="Trebuchet MS"/>
              </a:defRPr>
            </a:lvl1p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5" name="Holder 5"/>
          <p:cNvSpPr>
            <a:spLocks noGrp="1"/>
          </p:cNvSpPr>
          <p:nvPr>
            <p:ph type="sldNum" sz="quarter" idx="7"/>
          </p:nvPr>
        </p:nvSpPr>
        <p:spPr/>
        <p:txBody>
          <a:bodyPr lIns="0" tIns="0" rIns="0" bIns="0"/>
          <a:lstStyle>
            <a:lvl1pPr>
              <a:defRPr sz="950" b="0" i="0">
                <a:solidFill>
                  <a:srgbClr val="7E7E7E"/>
                </a:solidFill>
                <a:latin typeface="Trebuchet MS"/>
                <a:cs typeface="Trebuchet MS"/>
              </a:defRPr>
            </a:lvl1pPr>
          </a:lstStyle>
          <a:p>
            <a:pPr marL="381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A6A6A6"/>
                </a:solidFill>
                <a:latin typeface="Trebuchet MS"/>
                <a:cs typeface="Trebuchet MS"/>
              </a:defRPr>
            </a:lvl1p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3" name="Holder 3"/>
          <p:cNvSpPr>
            <a:spLocks noGrp="1"/>
          </p:cNvSpPr>
          <p:nvPr>
            <p:ph type="dt" sz="half" idx="6"/>
          </p:nvPr>
        </p:nvSpPr>
        <p:spPr/>
        <p:txBody>
          <a:bodyPr lIns="0" tIns="0" rIns="0" bIns="0"/>
          <a:lstStyle>
            <a:lvl1pPr>
              <a:defRPr sz="800" b="0" i="0">
                <a:solidFill>
                  <a:srgbClr val="FF0000"/>
                </a:solidFill>
                <a:latin typeface="Trebuchet MS"/>
                <a:cs typeface="Trebuchet MS"/>
              </a:defRPr>
            </a:lvl1p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4" name="Holder 4"/>
          <p:cNvSpPr>
            <a:spLocks noGrp="1"/>
          </p:cNvSpPr>
          <p:nvPr>
            <p:ph type="sldNum" sz="quarter" idx="7"/>
          </p:nvPr>
        </p:nvSpPr>
        <p:spPr/>
        <p:txBody>
          <a:bodyPr lIns="0" tIns="0" rIns="0" bIns="0"/>
          <a:lstStyle>
            <a:lvl1pPr>
              <a:defRPr sz="950" b="0" i="0">
                <a:solidFill>
                  <a:srgbClr val="7E7E7E"/>
                </a:solidFill>
                <a:latin typeface="Trebuchet MS"/>
                <a:cs typeface="Trebuchet MS"/>
              </a:defRPr>
            </a:lvl1pPr>
          </a:lstStyle>
          <a:p>
            <a:pPr marL="38100">
              <a:lnSpc>
                <a:spcPct val="100000"/>
              </a:lnSpc>
              <a:spcBef>
                <a:spcPts val="5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37540" y="2172271"/>
            <a:ext cx="3551554" cy="518160"/>
          </a:xfrm>
          <a:prstGeom prst="rect">
            <a:avLst/>
          </a:prstGeom>
        </p:spPr>
        <p:txBody>
          <a:bodyPr wrap="square" lIns="0" tIns="0" rIns="0" bIns="0">
            <a:spAutoFit/>
          </a:bodyPr>
          <a:lstStyle>
            <a:lvl1pPr>
              <a:defRPr sz="32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455295" y="1178623"/>
            <a:ext cx="8195310" cy="33821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202429" y="4875822"/>
            <a:ext cx="711835" cy="148589"/>
          </a:xfrm>
          <a:prstGeom prst="rect">
            <a:avLst/>
          </a:prstGeom>
        </p:spPr>
        <p:txBody>
          <a:bodyPr wrap="square" lIns="0" tIns="0" rIns="0" bIns="0">
            <a:spAutoFit/>
          </a:bodyPr>
          <a:lstStyle>
            <a:lvl1pPr>
              <a:defRPr sz="800" b="0" i="0">
                <a:solidFill>
                  <a:srgbClr val="A6A6A6"/>
                </a:solidFill>
                <a:latin typeface="Trebuchet MS"/>
                <a:cs typeface="Trebuchet MS"/>
              </a:defRPr>
            </a:lvl1p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5" name="Holder 5"/>
          <p:cNvSpPr>
            <a:spLocks noGrp="1"/>
          </p:cNvSpPr>
          <p:nvPr>
            <p:ph type="dt" sz="half" idx="6"/>
          </p:nvPr>
        </p:nvSpPr>
        <p:spPr>
          <a:xfrm>
            <a:off x="1663954" y="4872647"/>
            <a:ext cx="1689100" cy="148589"/>
          </a:xfrm>
          <a:prstGeom prst="rect">
            <a:avLst/>
          </a:prstGeom>
        </p:spPr>
        <p:txBody>
          <a:bodyPr wrap="square" lIns="0" tIns="0" rIns="0" bIns="0">
            <a:spAutoFit/>
          </a:bodyPr>
          <a:lstStyle>
            <a:lvl1pPr>
              <a:defRPr sz="800" b="0" i="0">
                <a:solidFill>
                  <a:srgbClr val="FF0000"/>
                </a:solidFill>
                <a:latin typeface="Trebuchet MS"/>
                <a:cs typeface="Trebuchet MS"/>
              </a:defRPr>
            </a:lvl1p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6" name="Holder 6"/>
          <p:cNvSpPr>
            <a:spLocks noGrp="1"/>
          </p:cNvSpPr>
          <p:nvPr>
            <p:ph type="sldNum" sz="quarter" idx="7"/>
          </p:nvPr>
        </p:nvSpPr>
        <p:spPr>
          <a:xfrm>
            <a:off x="8605266" y="4870531"/>
            <a:ext cx="158750" cy="171450"/>
          </a:xfrm>
          <a:prstGeom prst="rect">
            <a:avLst/>
          </a:prstGeom>
        </p:spPr>
        <p:txBody>
          <a:bodyPr wrap="square" lIns="0" tIns="0" rIns="0" bIns="0">
            <a:spAutoFit/>
          </a:bodyPr>
          <a:lstStyle>
            <a:lvl1pPr>
              <a:defRPr sz="950" b="0" i="0">
                <a:solidFill>
                  <a:srgbClr val="7E7E7E"/>
                </a:solidFill>
                <a:latin typeface="Trebuchet MS"/>
                <a:cs typeface="Trebuchet MS"/>
              </a:defRPr>
            </a:lvl1pPr>
          </a:lstStyle>
          <a:p>
            <a:pPr marL="38100">
              <a:lnSpc>
                <a:spcPct val="100000"/>
              </a:lnSpc>
              <a:spcBef>
                <a:spcPts val="5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5.png"/><Relationship Id="rId7" Type="http://schemas.openxmlformats.org/officeDocument/2006/relationships/image" Target="../media/image10.png"/><Relationship Id="rId12"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9.png"/><Relationship Id="rId11" Type="http://schemas.openxmlformats.org/officeDocument/2006/relationships/image" Target="../media/image14.jpeg"/><Relationship Id="rId5" Type="http://schemas.openxmlformats.org/officeDocument/2006/relationships/image" Target="../media/image7.png"/><Relationship Id="rId10" Type="http://schemas.openxmlformats.org/officeDocument/2006/relationships/image" Target="../media/image13.jpeg"/><Relationship Id="rId4" Type="http://schemas.openxmlformats.org/officeDocument/2006/relationships/image" Target="../media/image6.png"/><Relationship Id="rId9"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hyperlink" Target="mailto:info@SEW.ai" TargetMode="Externa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
            <a:ext cx="9105900" cy="5126736"/>
          </a:xfrm>
          <a:prstGeom prst="rect">
            <a:avLst/>
          </a:prstGeom>
        </p:spPr>
      </p:pic>
      <p:grpSp>
        <p:nvGrpSpPr>
          <p:cNvPr id="3" name="object 3"/>
          <p:cNvGrpSpPr/>
          <p:nvPr/>
        </p:nvGrpSpPr>
        <p:grpSpPr>
          <a:xfrm>
            <a:off x="0" y="-21"/>
            <a:ext cx="9105900" cy="5124470"/>
            <a:chOff x="0" y="-21"/>
            <a:chExt cx="9105900" cy="5124470"/>
          </a:xfrm>
        </p:grpSpPr>
        <p:pic>
          <p:nvPicPr>
            <p:cNvPr id="4" name="object 4"/>
            <p:cNvPicPr/>
            <p:nvPr/>
          </p:nvPicPr>
          <p:blipFill>
            <a:blip r:embed="rId3" cstate="print"/>
            <a:stretch>
              <a:fillRect/>
            </a:stretch>
          </p:blipFill>
          <p:spPr>
            <a:xfrm>
              <a:off x="0" y="19126"/>
              <a:ext cx="4047997" cy="3849751"/>
            </a:xfrm>
            <a:prstGeom prst="rect">
              <a:avLst/>
            </a:prstGeom>
          </p:spPr>
        </p:pic>
        <p:pic>
          <p:nvPicPr>
            <p:cNvPr id="5" name="object 5"/>
            <p:cNvPicPr/>
            <p:nvPr/>
          </p:nvPicPr>
          <p:blipFill>
            <a:blip r:embed="rId4" cstate="print"/>
            <a:stretch>
              <a:fillRect/>
            </a:stretch>
          </p:blipFill>
          <p:spPr>
            <a:xfrm>
              <a:off x="2828925" y="19050"/>
              <a:ext cx="6276975" cy="5105399"/>
            </a:xfrm>
            <a:prstGeom prst="rect">
              <a:avLst/>
            </a:prstGeom>
          </p:spPr>
        </p:pic>
        <p:pic>
          <p:nvPicPr>
            <p:cNvPr id="6" name="object 6"/>
            <p:cNvPicPr/>
            <p:nvPr/>
          </p:nvPicPr>
          <p:blipFill>
            <a:blip r:embed="rId5" cstate="print"/>
            <a:stretch>
              <a:fillRect/>
            </a:stretch>
          </p:blipFill>
          <p:spPr>
            <a:xfrm>
              <a:off x="259217" y="2111177"/>
              <a:ext cx="2381250" cy="809980"/>
            </a:xfrm>
            <a:prstGeom prst="rect">
              <a:avLst/>
            </a:prstGeom>
          </p:spPr>
        </p:pic>
        <p:pic>
          <p:nvPicPr>
            <p:cNvPr id="7" name="object 7"/>
            <p:cNvPicPr/>
            <p:nvPr/>
          </p:nvPicPr>
          <p:blipFill>
            <a:blip r:embed="rId6" cstate="print"/>
            <a:stretch>
              <a:fillRect/>
            </a:stretch>
          </p:blipFill>
          <p:spPr>
            <a:xfrm>
              <a:off x="337873" y="4864719"/>
              <a:ext cx="176911" cy="150988"/>
            </a:xfrm>
            <a:prstGeom prst="rect">
              <a:avLst/>
            </a:prstGeom>
          </p:spPr>
        </p:pic>
        <p:sp>
          <p:nvSpPr>
            <p:cNvPr id="8" name="object 8"/>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9" name="object 9"/>
            <p:cNvPicPr/>
            <p:nvPr/>
          </p:nvPicPr>
          <p:blipFill>
            <a:blip r:embed="rId7" cstate="print"/>
            <a:stretch>
              <a:fillRect/>
            </a:stretch>
          </p:blipFill>
          <p:spPr>
            <a:xfrm>
              <a:off x="0" y="-21"/>
              <a:ext cx="9105900" cy="47646"/>
            </a:xfrm>
            <a:prstGeom prst="rect">
              <a:avLst/>
            </a:prstGeom>
          </p:spPr>
        </p:pic>
      </p:grpSp>
      <p:sp>
        <p:nvSpPr>
          <p:cNvPr id="10" name="object 10" descr="$PPTXTitle"/>
          <p:cNvSpPr txBox="1">
            <a:spLocks noGrp="1"/>
          </p:cNvSpPr>
          <p:nvPr>
            <p:ph type="title"/>
          </p:nvPr>
        </p:nvSpPr>
        <p:spPr>
          <a:xfrm>
            <a:off x="503898" y="2977530"/>
            <a:ext cx="3551554" cy="518160"/>
          </a:xfrm>
          <a:prstGeom prst="rect">
            <a:avLst/>
          </a:prstGeom>
        </p:spPr>
        <p:txBody>
          <a:bodyPr vert="horz" wrap="square" lIns="0" tIns="16510" rIns="0" bIns="0" rtlCol="0">
            <a:spAutoFit/>
          </a:bodyPr>
          <a:lstStyle/>
          <a:p>
            <a:pPr marL="12700">
              <a:lnSpc>
                <a:spcPct val="100000"/>
              </a:lnSpc>
              <a:spcBef>
                <a:spcPts val="130"/>
              </a:spcBef>
            </a:pPr>
            <a:r>
              <a:rPr spc="-80" dirty="0"/>
              <a:t>Kartikeya</a:t>
            </a:r>
            <a:r>
              <a:rPr spc="-190" dirty="0"/>
              <a:t> </a:t>
            </a:r>
            <a:r>
              <a:rPr spc="-40" dirty="0"/>
              <a:t>Agnihotri</a:t>
            </a:r>
          </a:p>
        </p:txBody>
      </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3" name="object 13"/>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a:t>
            </a:fld>
            <a:endParaRPr spc="-50" dirty="0"/>
          </a:p>
        </p:txBody>
      </p:sp>
      <p:sp>
        <p:nvSpPr>
          <p:cNvPr id="11" name="object 11"/>
          <p:cNvSpPr txBox="1"/>
          <p:nvPr/>
        </p:nvSpPr>
        <p:spPr>
          <a:xfrm>
            <a:off x="503898" y="3512009"/>
            <a:ext cx="4311650" cy="763029"/>
          </a:xfrm>
          <a:prstGeom prst="rect">
            <a:avLst/>
          </a:prstGeom>
        </p:spPr>
        <p:txBody>
          <a:bodyPr vert="horz" wrap="square" lIns="0" tIns="69850" rIns="0" bIns="0" rtlCol="0">
            <a:spAutoFit/>
          </a:bodyPr>
          <a:lstStyle/>
          <a:p>
            <a:pPr marL="12700">
              <a:lnSpc>
                <a:spcPct val="100000"/>
              </a:lnSpc>
              <a:spcBef>
                <a:spcPts val="550"/>
              </a:spcBef>
            </a:pPr>
            <a:r>
              <a:rPr sz="2000" b="1" dirty="0">
                <a:latin typeface="Calibri"/>
                <a:cs typeface="Calibri"/>
              </a:rPr>
              <a:t>Role</a:t>
            </a:r>
            <a:r>
              <a:rPr sz="2000" dirty="0">
                <a:latin typeface="Calibri"/>
                <a:cs typeface="Calibri"/>
              </a:rPr>
              <a:t>:</a:t>
            </a:r>
            <a:r>
              <a:rPr sz="2000" spc="-75" dirty="0">
                <a:latin typeface="Calibri"/>
                <a:cs typeface="Calibri"/>
              </a:rPr>
              <a:t> </a:t>
            </a:r>
            <a:r>
              <a:rPr sz="2000" dirty="0">
                <a:latin typeface="Calibri"/>
                <a:cs typeface="Calibri"/>
              </a:rPr>
              <a:t>Product</a:t>
            </a:r>
            <a:r>
              <a:rPr sz="2000" spc="-50" dirty="0">
                <a:latin typeface="Calibri"/>
                <a:cs typeface="Calibri"/>
              </a:rPr>
              <a:t> </a:t>
            </a:r>
            <a:r>
              <a:rPr sz="2000" dirty="0">
                <a:latin typeface="Calibri"/>
                <a:cs typeface="Calibri"/>
              </a:rPr>
              <a:t>Solution</a:t>
            </a:r>
            <a:r>
              <a:rPr sz="2000" spc="-60" dirty="0">
                <a:latin typeface="Calibri"/>
                <a:cs typeface="Calibri"/>
              </a:rPr>
              <a:t> </a:t>
            </a:r>
            <a:r>
              <a:rPr sz="2000" dirty="0">
                <a:latin typeface="Calibri"/>
                <a:cs typeface="Calibri"/>
              </a:rPr>
              <a:t>Engineering</a:t>
            </a:r>
            <a:r>
              <a:rPr sz="2000" spc="-90" dirty="0">
                <a:latin typeface="Calibri"/>
                <a:cs typeface="Calibri"/>
              </a:rPr>
              <a:t> </a:t>
            </a:r>
            <a:r>
              <a:rPr sz="2000" spc="-10" dirty="0">
                <a:latin typeface="Calibri"/>
                <a:cs typeface="Calibri"/>
              </a:rPr>
              <a:t>Intern</a:t>
            </a:r>
            <a:endParaRPr lang="en-US" sz="2000" spc="-10" dirty="0">
              <a:latin typeface="Calibri"/>
              <a:cs typeface="Calibri"/>
            </a:endParaRPr>
          </a:p>
          <a:p>
            <a:pPr marL="12700">
              <a:lnSpc>
                <a:spcPct val="100000"/>
              </a:lnSpc>
              <a:spcBef>
                <a:spcPts val="550"/>
              </a:spcBef>
            </a:pPr>
            <a:r>
              <a:rPr lang="en-US" sz="2000" b="1" spc="-10" dirty="0">
                <a:latin typeface="Calibri"/>
                <a:cs typeface="Calibri"/>
              </a:rPr>
              <a:t>Dept</a:t>
            </a:r>
            <a:r>
              <a:rPr lang="en-US" sz="2000" spc="-10" dirty="0">
                <a:latin typeface="Calibri"/>
                <a:cs typeface="Calibri"/>
              </a:rPr>
              <a:t>: eMobility</a:t>
            </a:r>
            <a:endParaRPr sz="2000" dirty="0">
              <a:latin typeface="Calibri"/>
              <a:cs typeface="Calibri"/>
            </a:endParaRPr>
          </a:p>
        </p:txBody>
      </p:sp>
      <p:sp>
        <p:nvSpPr>
          <p:cNvPr id="15" name="TextBox 14">
            <a:extLst>
              <a:ext uri="{FF2B5EF4-FFF2-40B4-BE49-F238E27FC236}">
                <a16:creationId xmlns:a16="http://schemas.microsoft.com/office/drawing/2014/main" id="{5EACE7D7-F095-14C1-DC32-27C116AD67CB}"/>
              </a:ext>
            </a:extLst>
          </p:cNvPr>
          <p:cNvSpPr txBox="1"/>
          <p:nvPr/>
        </p:nvSpPr>
        <p:spPr>
          <a:xfrm>
            <a:off x="1314450" y="756235"/>
            <a:ext cx="6477000" cy="646331"/>
          </a:xfrm>
          <a:prstGeom prst="rect">
            <a:avLst/>
          </a:prstGeom>
          <a:noFill/>
        </p:spPr>
        <p:txBody>
          <a:bodyPr wrap="square" rtlCol="0">
            <a:spAutoFit/>
          </a:bodyPr>
          <a:lstStyle/>
          <a:p>
            <a:pPr algn="ctr"/>
            <a:r>
              <a:rPr lang="en-US" sz="3600" dirty="0"/>
              <a:t>Payments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2"/>
            <a:ext cx="9105900" cy="5126736"/>
          </a:xfrm>
          <a:prstGeom prst="rect">
            <a:avLst/>
          </a:prstGeom>
        </p:spPr>
      </p:pic>
      <p:grpSp>
        <p:nvGrpSpPr>
          <p:cNvPr id="3" name="object 3"/>
          <p:cNvGrpSpPr/>
          <p:nvPr/>
        </p:nvGrpSpPr>
        <p:grpSpPr>
          <a:xfrm>
            <a:off x="0" y="-28575"/>
            <a:ext cx="9105900" cy="5124470"/>
            <a:chOff x="0" y="-21"/>
            <a:chExt cx="9105900" cy="5124470"/>
          </a:xfrm>
        </p:grpSpPr>
        <p:pic>
          <p:nvPicPr>
            <p:cNvPr id="4" name="object 4"/>
            <p:cNvPicPr/>
            <p:nvPr/>
          </p:nvPicPr>
          <p:blipFill>
            <a:blip r:embed="rId4" cstate="print"/>
            <a:stretch>
              <a:fillRect/>
            </a:stretch>
          </p:blipFill>
          <p:spPr>
            <a:xfrm>
              <a:off x="0" y="19126"/>
              <a:ext cx="4047997" cy="3849751"/>
            </a:xfrm>
            <a:prstGeom prst="rect">
              <a:avLst/>
            </a:prstGeom>
          </p:spPr>
        </p:pic>
        <p:pic>
          <p:nvPicPr>
            <p:cNvPr id="5" name="object 5"/>
            <p:cNvPicPr/>
            <p:nvPr/>
          </p:nvPicPr>
          <p:blipFill>
            <a:blip r:embed="rId5" cstate="print"/>
            <a:stretch>
              <a:fillRect/>
            </a:stretch>
          </p:blipFill>
          <p:spPr>
            <a:xfrm>
              <a:off x="2828925" y="19050"/>
              <a:ext cx="6276975" cy="5105399"/>
            </a:xfrm>
            <a:prstGeom prst="rect">
              <a:avLst/>
            </a:prstGeom>
          </p:spPr>
        </p:pic>
        <p:pic>
          <p:nvPicPr>
            <p:cNvPr id="6" name="object 6"/>
            <p:cNvPicPr/>
            <p:nvPr/>
          </p:nvPicPr>
          <p:blipFill>
            <a:blip r:embed="rId6" cstate="print"/>
            <a:stretch>
              <a:fillRect/>
            </a:stretch>
          </p:blipFill>
          <p:spPr>
            <a:xfrm>
              <a:off x="337873" y="4864719"/>
              <a:ext cx="176911" cy="150988"/>
            </a:xfrm>
            <a:prstGeom prst="rect">
              <a:avLst/>
            </a:prstGeom>
          </p:spPr>
        </p:pic>
        <p:sp>
          <p:nvSpPr>
            <p:cNvPr id="7" name="object 7"/>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p:cNvPicPr/>
            <p:nvPr/>
          </p:nvPicPr>
          <p:blipFill>
            <a:blip r:embed="rId7" cstate="print"/>
            <a:stretch>
              <a:fillRect/>
            </a:stretch>
          </p:blipFill>
          <p:spPr>
            <a:xfrm>
              <a:off x="0" y="-21"/>
              <a:ext cx="9105900" cy="47646"/>
            </a:xfrm>
            <a:prstGeom prst="rect">
              <a:avLst/>
            </a:prstGeom>
          </p:spPr>
        </p:pic>
      </p:grpSp>
      <p:sp>
        <p:nvSpPr>
          <p:cNvPr id="9" name="object 9"/>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a:t>
            </a:fld>
            <a:endParaRPr spc="-50" dirty="0"/>
          </a:p>
        </p:txBody>
      </p:sp>
      <p:sp>
        <p:nvSpPr>
          <p:cNvPr id="14" name="TextBox 13">
            <a:extLst>
              <a:ext uri="{FF2B5EF4-FFF2-40B4-BE49-F238E27FC236}">
                <a16:creationId xmlns:a16="http://schemas.microsoft.com/office/drawing/2014/main" id="{1A03E440-ADAF-7DEF-5643-FF1826B960CA}"/>
              </a:ext>
            </a:extLst>
          </p:cNvPr>
          <p:cNvSpPr txBox="1"/>
          <p:nvPr/>
        </p:nvSpPr>
        <p:spPr>
          <a:xfrm>
            <a:off x="1962150" y="352425"/>
            <a:ext cx="5486400" cy="461665"/>
          </a:xfrm>
          <a:prstGeom prst="rect">
            <a:avLst/>
          </a:prstGeom>
          <a:noFill/>
        </p:spPr>
        <p:txBody>
          <a:bodyPr wrap="square" rtlCol="0">
            <a:spAutoFit/>
          </a:bodyPr>
          <a:lstStyle/>
          <a:p>
            <a:pPr algn="ctr"/>
            <a:r>
              <a:rPr lang="en-US" sz="2400" dirty="0"/>
              <a:t>Index</a:t>
            </a:r>
          </a:p>
        </p:txBody>
      </p:sp>
      <p:sp>
        <p:nvSpPr>
          <p:cNvPr id="12" name="TextBox 11">
            <a:extLst>
              <a:ext uri="{FF2B5EF4-FFF2-40B4-BE49-F238E27FC236}">
                <a16:creationId xmlns:a16="http://schemas.microsoft.com/office/drawing/2014/main" id="{855D9D0B-F206-6504-CD36-541BF6664E65}"/>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104534AC-F968-E4E7-AD3D-CB1B6D91E723}"/>
              </a:ext>
            </a:extLst>
          </p:cNvPr>
          <p:cNvSpPr txBox="1"/>
          <p:nvPr/>
        </p:nvSpPr>
        <p:spPr>
          <a:xfrm>
            <a:off x="666750" y="1173549"/>
            <a:ext cx="7772400" cy="3139321"/>
          </a:xfrm>
          <a:prstGeom prst="rect">
            <a:avLst/>
          </a:prstGeom>
          <a:noFill/>
        </p:spPr>
        <p:txBody>
          <a:bodyPr wrap="square" rtlCol="0">
            <a:spAutoFit/>
          </a:bodyPr>
          <a:lstStyle/>
          <a:p>
            <a:pPr marL="285750" indent="-285750">
              <a:buFont typeface="Arial" panose="020B0604020202020204" pitchFamily="34" charset="0"/>
              <a:buChar char="•"/>
            </a:pPr>
            <a:r>
              <a:rPr lang="en-US" dirty="0"/>
              <a:t>SEW Payment’s Platform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AiElectron Base App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AiElectron CX Portal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Smart CX</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AiElectron BX</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Payment Architecture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0D1AC6E-EC17-7C76-26A0-06DF80121440}"/>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246D8F4-7811-3B57-CF52-CAAC85DAA697}"/>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C85AC1FC-1B98-3C22-4DE5-64D489D68CA1}"/>
              </a:ext>
            </a:extLst>
          </p:cNvPr>
          <p:cNvGrpSpPr/>
          <p:nvPr/>
        </p:nvGrpSpPr>
        <p:grpSpPr>
          <a:xfrm>
            <a:off x="0" y="28555"/>
            <a:ext cx="9105900" cy="5124470"/>
            <a:chOff x="0" y="-21"/>
            <a:chExt cx="9105900" cy="5124470"/>
          </a:xfrm>
        </p:grpSpPr>
        <p:pic>
          <p:nvPicPr>
            <p:cNvPr id="4" name="object 4">
              <a:extLst>
                <a:ext uri="{FF2B5EF4-FFF2-40B4-BE49-F238E27FC236}">
                  <a16:creationId xmlns:a16="http://schemas.microsoft.com/office/drawing/2014/main" id="{8783232F-9CD1-65B6-94DE-82508C355564}"/>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924FF112-94E2-549B-FF59-8A7D2CCFC7CD}"/>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C74294B8-5FFC-80AD-35B1-C8EEEDCE3B02}"/>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48887E5F-EF3D-5556-06D2-D641FBEDC3F1}"/>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18F2DFB5-8B4B-4636-9D5F-F9008F5F49E7}"/>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4027CEE4-9FAE-0121-1C2C-014AFE50010B}"/>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6252DEDB-863A-E376-BC5A-DA77F6D27420}"/>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0A9A5D0F-F387-8F72-E54E-257DFDDC3B99}"/>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3</a:t>
            </a:fld>
            <a:endParaRPr spc="-50" dirty="0"/>
          </a:p>
        </p:txBody>
      </p:sp>
      <p:sp>
        <p:nvSpPr>
          <p:cNvPr id="12" name="TextBox 11">
            <a:extLst>
              <a:ext uri="{FF2B5EF4-FFF2-40B4-BE49-F238E27FC236}">
                <a16:creationId xmlns:a16="http://schemas.microsoft.com/office/drawing/2014/main" id="{D7A084E3-4442-2330-1382-E66A8F1C6D45}"/>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0CAA0D65-EB2E-7FC9-D4CC-622A9289C8E0}"/>
              </a:ext>
            </a:extLst>
          </p:cNvPr>
          <p:cNvSpPr txBox="1"/>
          <p:nvPr/>
        </p:nvSpPr>
        <p:spPr>
          <a:xfrm>
            <a:off x="2038350" y="200025"/>
            <a:ext cx="5257800" cy="369332"/>
          </a:xfrm>
          <a:prstGeom prst="rect">
            <a:avLst/>
          </a:prstGeom>
          <a:noFill/>
        </p:spPr>
        <p:txBody>
          <a:bodyPr wrap="square" rtlCol="0">
            <a:spAutoFit/>
          </a:bodyPr>
          <a:lstStyle/>
          <a:p>
            <a:pPr algn="ctr"/>
            <a:r>
              <a:rPr lang="en-US" b="1" dirty="0"/>
              <a:t>iPay Smart - SEW Payment’s Platform</a:t>
            </a:r>
          </a:p>
        </p:txBody>
      </p:sp>
      <p:sp>
        <p:nvSpPr>
          <p:cNvPr id="14" name="TextBox 13">
            <a:extLst>
              <a:ext uri="{FF2B5EF4-FFF2-40B4-BE49-F238E27FC236}">
                <a16:creationId xmlns:a16="http://schemas.microsoft.com/office/drawing/2014/main" id="{A0ACBE2E-DFC7-9BAD-1CDB-5DE7C2028CE3}"/>
              </a:ext>
            </a:extLst>
          </p:cNvPr>
          <p:cNvSpPr txBox="1"/>
          <p:nvPr/>
        </p:nvSpPr>
        <p:spPr>
          <a:xfrm>
            <a:off x="742950" y="962025"/>
            <a:ext cx="7696200" cy="1323439"/>
          </a:xfrm>
          <a:prstGeom prst="rect">
            <a:avLst/>
          </a:prstGeom>
          <a:noFill/>
        </p:spPr>
        <p:txBody>
          <a:bodyPr wrap="square" rtlCol="0">
            <a:spAutoFit/>
          </a:bodyPr>
          <a:lstStyle/>
          <a:p>
            <a:r>
              <a:rPr lang="en-US" sz="1600" b="1" dirty="0"/>
              <a:t>iPaySmart</a:t>
            </a:r>
            <a:r>
              <a:rPr lang="en-US" sz="1600" dirty="0"/>
              <a:t> is a digital payment platform used for handling billing, payments, and transactions within apps or systems . It uses multiple channels like web , app , text to pay, IVR. </a:t>
            </a:r>
            <a:br>
              <a:rPr lang="en-US" sz="1600" dirty="0"/>
            </a:br>
            <a:br>
              <a:rPr lang="en-US" sz="1600" dirty="0"/>
            </a:br>
            <a:r>
              <a:rPr lang="en-US" sz="1600" dirty="0"/>
              <a:t>It ensures compliance with security standards such as PCI-DSS and NACHA.</a:t>
            </a:r>
          </a:p>
        </p:txBody>
      </p:sp>
      <p:sp>
        <p:nvSpPr>
          <p:cNvPr id="15" name="TextBox 14">
            <a:extLst>
              <a:ext uri="{FF2B5EF4-FFF2-40B4-BE49-F238E27FC236}">
                <a16:creationId xmlns:a16="http://schemas.microsoft.com/office/drawing/2014/main" id="{0A23CB51-CA02-859F-1444-F3266B967DA0}"/>
              </a:ext>
            </a:extLst>
          </p:cNvPr>
          <p:cNvSpPr txBox="1"/>
          <p:nvPr/>
        </p:nvSpPr>
        <p:spPr>
          <a:xfrm>
            <a:off x="742950" y="2943225"/>
            <a:ext cx="7696200" cy="1877437"/>
          </a:xfrm>
          <a:prstGeom prst="rect">
            <a:avLst/>
          </a:prstGeom>
          <a:noFill/>
        </p:spPr>
        <p:txBody>
          <a:bodyPr wrap="square" rtlCol="0">
            <a:spAutoFit/>
          </a:bodyPr>
          <a:lstStyle/>
          <a:p>
            <a:r>
              <a:rPr lang="en-US" sz="1400" dirty="0">
                <a:solidFill>
                  <a:srgbClr val="FF0000"/>
                </a:solidFill>
              </a:rPr>
              <a:t>PCI-DSS</a:t>
            </a:r>
            <a:r>
              <a:rPr lang="en-US" sz="1400" dirty="0"/>
              <a:t> - stands for Payment Card Industry Data Security Standard.</a:t>
            </a:r>
          </a:p>
          <a:p>
            <a:r>
              <a:rPr lang="en-US" sz="1400" dirty="0"/>
              <a:t>It is a security standard that ensures companies handle credit and debit card data safely.</a:t>
            </a:r>
          </a:p>
          <a:p>
            <a:endParaRPr lang="en-US" sz="1400" dirty="0"/>
          </a:p>
          <a:p>
            <a:endParaRPr lang="en-US" sz="1400" dirty="0"/>
          </a:p>
          <a:p>
            <a:r>
              <a:rPr lang="en-US" sz="1400" dirty="0">
                <a:solidFill>
                  <a:srgbClr val="FF0000"/>
                </a:solidFill>
              </a:rPr>
              <a:t>NACHA</a:t>
            </a:r>
            <a:r>
              <a:rPr lang="en-US" sz="1400" dirty="0"/>
              <a:t> stands for National Automated Clearing House Association.</a:t>
            </a:r>
          </a:p>
          <a:p>
            <a:r>
              <a:rPr lang="en-US" sz="1400" dirty="0"/>
              <a:t>NACHA compliance means following rules for ACH (bank-to-bank transfer done electronically) payments, including collecting and storing customer consent before processing the transaction.</a:t>
            </a:r>
          </a:p>
          <a:p>
            <a:endParaRPr lang="en-US" dirty="0"/>
          </a:p>
        </p:txBody>
      </p:sp>
    </p:spTree>
    <p:extLst>
      <p:ext uri="{BB962C8B-B14F-4D97-AF65-F5344CB8AC3E}">
        <p14:creationId xmlns:p14="http://schemas.microsoft.com/office/powerpoint/2010/main" val="115492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EF683D-9587-2A6C-2E29-CD2689EB057C}"/>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DD79F09D-6898-B0A5-77FD-86C0779250D6}"/>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22AC4421-21E2-94FA-6EBC-BCC6265D3410}"/>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FBB7FD51-A521-8D7D-09F5-F69505A4CDE9}"/>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7C6165CF-D591-504C-4930-36D4D53F05F4}"/>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5FD59BDE-AD4D-BC51-309C-6524C89163DE}"/>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B126FA26-0C08-CE7F-3513-3C359D0F7440}"/>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51482C07-296F-DF25-2E29-51B6287045F4}"/>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C3A0E32F-B127-D377-7D42-D55B064F06AD}"/>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7D15CC99-7FAE-5B5C-19E9-2FB8FCE02504}"/>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880F5685-AB30-9AFA-FAE3-D2214C153ADD}"/>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4</a:t>
            </a:fld>
            <a:endParaRPr spc="-50" dirty="0"/>
          </a:p>
        </p:txBody>
      </p:sp>
      <p:sp>
        <p:nvSpPr>
          <p:cNvPr id="12" name="TextBox 11">
            <a:extLst>
              <a:ext uri="{FF2B5EF4-FFF2-40B4-BE49-F238E27FC236}">
                <a16:creationId xmlns:a16="http://schemas.microsoft.com/office/drawing/2014/main" id="{761A46BF-A649-5FF2-2323-20467A617DFD}"/>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3935C8F7-05DC-BF7E-E8D1-D839B7266B6B}"/>
              </a:ext>
            </a:extLst>
          </p:cNvPr>
          <p:cNvSpPr txBox="1"/>
          <p:nvPr/>
        </p:nvSpPr>
        <p:spPr>
          <a:xfrm>
            <a:off x="2419350" y="200025"/>
            <a:ext cx="4114800" cy="369332"/>
          </a:xfrm>
          <a:prstGeom prst="rect">
            <a:avLst/>
          </a:prstGeom>
          <a:noFill/>
        </p:spPr>
        <p:txBody>
          <a:bodyPr wrap="square" rtlCol="0">
            <a:spAutoFit/>
          </a:bodyPr>
          <a:lstStyle/>
          <a:p>
            <a:pPr algn="ctr"/>
            <a:r>
              <a:rPr lang="en-US" b="1" dirty="0"/>
              <a:t>Payment Flow – AiElectron App</a:t>
            </a:r>
          </a:p>
        </p:txBody>
      </p:sp>
      <p:pic>
        <p:nvPicPr>
          <p:cNvPr id="31" name="Picture 30">
            <a:extLst>
              <a:ext uri="{FF2B5EF4-FFF2-40B4-BE49-F238E27FC236}">
                <a16:creationId xmlns:a16="http://schemas.microsoft.com/office/drawing/2014/main" id="{4F2874C6-FF19-A520-43C5-B2CC2C5742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8317" y="791670"/>
            <a:ext cx="1638838" cy="3657099"/>
          </a:xfrm>
          <a:prstGeom prst="rect">
            <a:avLst/>
          </a:prstGeom>
        </p:spPr>
      </p:pic>
      <p:pic>
        <p:nvPicPr>
          <p:cNvPr id="33" name="Picture 32">
            <a:extLst>
              <a:ext uri="{FF2B5EF4-FFF2-40B4-BE49-F238E27FC236}">
                <a16:creationId xmlns:a16="http://schemas.microsoft.com/office/drawing/2014/main" id="{CA3F5010-4AB8-D640-9588-D04FE17F4F9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23255" y="779861"/>
            <a:ext cx="1638837" cy="3657099"/>
          </a:xfrm>
          <a:prstGeom prst="rect">
            <a:avLst/>
          </a:prstGeom>
        </p:spPr>
      </p:pic>
      <p:pic>
        <p:nvPicPr>
          <p:cNvPr id="35" name="Picture 34">
            <a:extLst>
              <a:ext uri="{FF2B5EF4-FFF2-40B4-BE49-F238E27FC236}">
                <a16:creationId xmlns:a16="http://schemas.microsoft.com/office/drawing/2014/main" id="{6C3E7451-32D5-3377-9A51-7D7DDE417E4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30648" y="791669"/>
            <a:ext cx="1638838" cy="3657100"/>
          </a:xfrm>
          <a:prstGeom prst="rect">
            <a:avLst/>
          </a:prstGeom>
        </p:spPr>
      </p:pic>
      <p:pic>
        <p:nvPicPr>
          <p:cNvPr id="37" name="Picture 36">
            <a:extLst>
              <a:ext uri="{FF2B5EF4-FFF2-40B4-BE49-F238E27FC236}">
                <a16:creationId xmlns:a16="http://schemas.microsoft.com/office/drawing/2014/main" id="{3A704C5C-615F-DD6C-55A0-9C5E6599A1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316356" y="791669"/>
            <a:ext cx="1638838" cy="3657100"/>
          </a:xfrm>
          <a:prstGeom prst="rect">
            <a:avLst/>
          </a:prstGeom>
        </p:spPr>
      </p:pic>
      <p:pic>
        <p:nvPicPr>
          <p:cNvPr id="41" name="Picture 40">
            <a:extLst>
              <a:ext uri="{FF2B5EF4-FFF2-40B4-BE49-F238E27FC236}">
                <a16:creationId xmlns:a16="http://schemas.microsoft.com/office/drawing/2014/main" id="{C07776A1-B61B-E3D5-E807-80BBD11C1BC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911269" y="796675"/>
            <a:ext cx="1648181" cy="3677948"/>
          </a:xfrm>
          <a:prstGeom prst="rect">
            <a:avLst/>
          </a:prstGeom>
        </p:spPr>
      </p:pic>
    </p:spTree>
    <p:extLst>
      <p:ext uri="{BB962C8B-B14F-4D97-AF65-F5344CB8AC3E}">
        <p14:creationId xmlns:p14="http://schemas.microsoft.com/office/powerpoint/2010/main" val="603329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B170CC-D4BF-4A83-8DCF-32C132313D9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F302C24-3042-887F-1B9C-F316AC3C3267}"/>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E5F31669-E604-9B63-1605-F94808985B70}"/>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5030E08A-F448-8978-B085-E4364C6CA2CE}"/>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6C0B0278-4689-3451-9F63-6E07BB3B951B}"/>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13D81194-3218-7940-BBD5-4C5BA6012C56}"/>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F175153C-2402-D7D6-7CCE-D7EA07F295CD}"/>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2D800AD1-35C5-0FC6-48C7-3CD8249C5015}"/>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3646306D-32BE-4FC3-E350-62AAFC8A815F}"/>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39552C29-E960-60F1-A3FC-0C36D0091047}"/>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8466CAA6-ACEE-420E-933C-A4D7FD9A27A6}"/>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5</a:t>
            </a:fld>
            <a:endParaRPr spc="-50" dirty="0"/>
          </a:p>
        </p:txBody>
      </p:sp>
      <p:sp>
        <p:nvSpPr>
          <p:cNvPr id="12" name="TextBox 11">
            <a:extLst>
              <a:ext uri="{FF2B5EF4-FFF2-40B4-BE49-F238E27FC236}">
                <a16:creationId xmlns:a16="http://schemas.microsoft.com/office/drawing/2014/main" id="{089AD390-C3DC-ED5C-28D0-83A99E304074}"/>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0E0BFFAF-19E6-1CAE-26F7-AF60DA34A722}"/>
              </a:ext>
            </a:extLst>
          </p:cNvPr>
          <p:cNvSpPr txBox="1"/>
          <p:nvPr/>
        </p:nvSpPr>
        <p:spPr>
          <a:xfrm>
            <a:off x="1973700" y="189939"/>
            <a:ext cx="5257800" cy="369332"/>
          </a:xfrm>
          <a:prstGeom prst="rect">
            <a:avLst/>
          </a:prstGeom>
          <a:noFill/>
        </p:spPr>
        <p:txBody>
          <a:bodyPr wrap="square" rtlCol="0">
            <a:spAutoFit/>
          </a:bodyPr>
          <a:lstStyle/>
          <a:p>
            <a:pPr algn="ctr"/>
            <a:r>
              <a:rPr lang="en-US" b="1" dirty="0"/>
              <a:t>Payment Flow – AiElectron CX Portal</a:t>
            </a:r>
          </a:p>
        </p:txBody>
      </p:sp>
      <p:pic>
        <p:nvPicPr>
          <p:cNvPr id="15" name="Picture 14">
            <a:extLst>
              <a:ext uri="{FF2B5EF4-FFF2-40B4-BE49-F238E27FC236}">
                <a16:creationId xmlns:a16="http://schemas.microsoft.com/office/drawing/2014/main" id="{BACEF864-9C56-6DAC-15CB-5A15EC3A97DD}"/>
              </a:ext>
            </a:extLst>
          </p:cNvPr>
          <p:cNvPicPr>
            <a:picLocks noChangeAspect="1"/>
          </p:cNvPicPr>
          <p:nvPr/>
        </p:nvPicPr>
        <p:blipFill>
          <a:blip r:embed="rId8"/>
          <a:stretch>
            <a:fillRect/>
          </a:stretch>
        </p:blipFill>
        <p:spPr>
          <a:xfrm>
            <a:off x="221797" y="1074220"/>
            <a:ext cx="4254291" cy="3104292"/>
          </a:xfrm>
          <a:prstGeom prst="rect">
            <a:avLst/>
          </a:prstGeom>
        </p:spPr>
      </p:pic>
      <p:pic>
        <p:nvPicPr>
          <p:cNvPr id="17" name="Picture 16">
            <a:extLst>
              <a:ext uri="{FF2B5EF4-FFF2-40B4-BE49-F238E27FC236}">
                <a16:creationId xmlns:a16="http://schemas.microsoft.com/office/drawing/2014/main" id="{69D9E172-B37A-4A45-D399-4741B317E659}"/>
              </a:ext>
            </a:extLst>
          </p:cNvPr>
          <p:cNvPicPr>
            <a:picLocks noChangeAspect="1"/>
          </p:cNvPicPr>
          <p:nvPr/>
        </p:nvPicPr>
        <p:blipFill>
          <a:blip r:embed="rId9"/>
          <a:stretch>
            <a:fillRect/>
          </a:stretch>
        </p:blipFill>
        <p:spPr>
          <a:xfrm>
            <a:off x="4602600" y="1074220"/>
            <a:ext cx="4398708" cy="3104292"/>
          </a:xfrm>
          <a:prstGeom prst="rect">
            <a:avLst/>
          </a:prstGeom>
        </p:spPr>
      </p:pic>
    </p:spTree>
    <p:extLst>
      <p:ext uri="{BB962C8B-B14F-4D97-AF65-F5344CB8AC3E}">
        <p14:creationId xmlns:p14="http://schemas.microsoft.com/office/powerpoint/2010/main" val="3372888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20BD55-537E-DAF2-F540-DC40051E85F6}"/>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0FC2FCC-BC17-EADB-990F-86BAD4B52C3C}"/>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C6B85B5E-1D2B-E283-EDA4-172701403CB7}"/>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FFE6D53F-4BE6-17D6-6842-E79E8FF11C93}"/>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23E8BEA1-7362-6411-934A-9AD170B2BB53}"/>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CE84AE2A-334D-8354-3486-2858BBFF032E}"/>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F0F37D94-EB8E-9AD5-EB7B-200AD4CD83C7}"/>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54A993EC-CA94-B1D2-9862-DD4FE0D65407}"/>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16B1AFAC-1FE8-AE01-40AA-EF601D03FA88}"/>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32C91B16-F934-2037-4332-B92E65328385}"/>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EA728F5B-68EF-4224-5614-BD59B280E617}"/>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6</a:t>
            </a:fld>
            <a:endParaRPr spc="-50" dirty="0"/>
          </a:p>
        </p:txBody>
      </p:sp>
      <p:sp>
        <p:nvSpPr>
          <p:cNvPr id="13" name="TextBox 12">
            <a:extLst>
              <a:ext uri="{FF2B5EF4-FFF2-40B4-BE49-F238E27FC236}">
                <a16:creationId xmlns:a16="http://schemas.microsoft.com/office/drawing/2014/main" id="{AD5DC011-DCD5-40FD-9C87-F3B13317B6AA}"/>
              </a:ext>
            </a:extLst>
          </p:cNvPr>
          <p:cNvSpPr txBox="1"/>
          <p:nvPr/>
        </p:nvSpPr>
        <p:spPr>
          <a:xfrm>
            <a:off x="1973700" y="189939"/>
            <a:ext cx="5257800" cy="369332"/>
          </a:xfrm>
          <a:prstGeom prst="rect">
            <a:avLst/>
          </a:prstGeom>
          <a:noFill/>
        </p:spPr>
        <p:txBody>
          <a:bodyPr wrap="square" rtlCol="0">
            <a:spAutoFit/>
          </a:bodyPr>
          <a:lstStyle/>
          <a:p>
            <a:pPr algn="ctr"/>
            <a:r>
              <a:rPr lang="en-US" b="1" dirty="0"/>
              <a:t>Smart CX - Payments</a:t>
            </a:r>
          </a:p>
        </p:txBody>
      </p:sp>
      <p:sp>
        <p:nvSpPr>
          <p:cNvPr id="14" name="TextBox 13">
            <a:extLst>
              <a:ext uri="{FF2B5EF4-FFF2-40B4-BE49-F238E27FC236}">
                <a16:creationId xmlns:a16="http://schemas.microsoft.com/office/drawing/2014/main" id="{7523F06C-7126-22E2-D37F-720BE93F25F3}"/>
              </a:ext>
            </a:extLst>
          </p:cNvPr>
          <p:cNvSpPr txBox="1"/>
          <p:nvPr/>
        </p:nvSpPr>
        <p:spPr>
          <a:xfrm>
            <a:off x="3791014" y="578342"/>
            <a:ext cx="1523872" cy="338554"/>
          </a:xfrm>
          <a:prstGeom prst="rect">
            <a:avLst/>
          </a:prstGeom>
          <a:noFill/>
        </p:spPr>
        <p:txBody>
          <a:bodyPr wrap="square" rtlCol="0">
            <a:spAutoFit/>
          </a:bodyPr>
          <a:lstStyle/>
          <a:p>
            <a:pPr algn="ctr"/>
            <a:r>
              <a:rPr lang="en-US" sz="1600" dirty="0"/>
              <a:t>Post login</a:t>
            </a:r>
          </a:p>
        </p:txBody>
      </p:sp>
      <p:sp>
        <p:nvSpPr>
          <p:cNvPr id="20" name="TextBox 19">
            <a:extLst>
              <a:ext uri="{FF2B5EF4-FFF2-40B4-BE49-F238E27FC236}">
                <a16:creationId xmlns:a16="http://schemas.microsoft.com/office/drawing/2014/main" id="{10E6BD84-23C0-EB6F-FF80-0ECF32E318DD}"/>
              </a:ext>
            </a:extLst>
          </p:cNvPr>
          <p:cNvSpPr txBox="1"/>
          <p:nvPr/>
        </p:nvSpPr>
        <p:spPr>
          <a:xfrm>
            <a:off x="769166" y="873034"/>
            <a:ext cx="7772400" cy="4524315"/>
          </a:xfrm>
          <a:prstGeom prst="rect">
            <a:avLst/>
          </a:prstGeom>
          <a:noFill/>
        </p:spPr>
        <p:txBody>
          <a:bodyPr wrap="square" rtlCol="0">
            <a:spAutoFit/>
          </a:bodyPr>
          <a:lstStyle/>
          <a:p>
            <a:r>
              <a:rPr lang="en-US" sz="1600" b="1" dirty="0"/>
              <a:t>Payment Locations </a:t>
            </a:r>
            <a:r>
              <a:rPr lang="en-US" sz="1600" dirty="0"/>
              <a:t>- This feature displays the addresses of various payment locations where user can physically make bill payments.</a:t>
            </a:r>
          </a:p>
          <a:p>
            <a:endParaRPr lang="en-US" sz="1600" b="1" dirty="0"/>
          </a:p>
          <a:p>
            <a:r>
              <a:rPr lang="en-US" sz="1600" b="1" dirty="0"/>
              <a:t>Budget Billing </a:t>
            </a:r>
            <a:r>
              <a:rPr lang="en-US" sz="1600" dirty="0"/>
              <a:t>- is a feature that helps users pay a fixed estimated amount every month instead of different bill amounts each month</a:t>
            </a:r>
          </a:p>
          <a:p>
            <a:endParaRPr lang="en-US" sz="1600" dirty="0"/>
          </a:p>
          <a:p>
            <a:r>
              <a:rPr lang="en-US" sz="1600" dirty="0"/>
              <a:t>Jan - $120</a:t>
            </a:r>
            <a:br>
              <a:rPr lang="en-US" sz="1600" dirty="0"/>
            </a:br>
            <a:r>
              <a:rPr lang="en-US" sz="1600" dirty="0"/>
              <a:t>Feb - $90</a:t>
            </a:r>
            <a:br>
              <a:rPr lang="en-US" sz="1600" dirty="0"/>
            </a:br>
            <a:r>
              <a:rPr lang="en-US" sz="1600" dirty="0"/>
              <a:t>Mar - $150</a:t>
            </a:r>
          </a:p>
          <a:p>
            <a:endParaRPr lang="en-US" sz="1600" dirty="0"/>
          </a:p>
          <a:p>
            <a:r>
              <a:rPr lang="en-US" sz="1600" dirty="0"/>
              <a:t>Total yearly bill: $1440</a:t>
            </a:r>
          </a:p>
          <a:p>
            <a:r>
              <a:rPr lang="en-US" sz="1600" dirty="0"/>
              <a:t>Monthly average budget bill:</a:t>
            </a:r>
          </a:p>
          <a:p>
            <a:r>
              <a:rPr lang="en-US" sz="1600" dirty="0"/>
              <a:t>$1440 ÷ 12 = $120 per month</a:t>
            </a:r>
            <a:br>
              <a:rPr lang="en-US" sz="1600" dirty="0"/>
            </a:br>
            <a:br>
              <a:rPr lang="en-US" sz="1600" dirty="0"/>
            </a:br>
            <a:r>
              <a:rPr lang="en-US" sz="1600" dirty="0"/>
              <a:t>Eligibility - Account has at least 12 months of billing history</a:t>
            </a:r>
          </a:p>
          <a:p>
            <a:endParaRPr lang="en-US" sz="1600" dirty="0"/>
          </a:p>
          <a:p>
            <a:endParaRPr lang="en-US" sz="1600" dirty="0"/>
          </a:p>
          <a:p>
            <a:endParaRPr lang="en-US" sz="1600" dirty="0"/>
          </a:p>
        </p:txBody>
      </p:sp>
    </p:spTree>
    <p:extLst>
      <p:ext uri="{BB962C8B-B14F-4D97-AF65-F5344CB8AC3E}">
        <p14:creationId xmlns:p14="http://schemas.microsoft.com/office/powerpoint/2010/main" val="2392837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AE6624C-B093-7843-6B72-8D57B9892A0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F2D2E34-7812-BF00-8E73-DDAE7FB4CF60}"/>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487D01F0-0B54-CA58-FB0C-FDEADC2CF3BD}"/>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520D9D42-3A2D-9923-B7A3-E26ECD276D4B}"/>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1A4AA5A3-3B3C-1B70-B10C-3C5EF9B3ABE3}"/>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8496D841-92CA-C808-9F9F-6542663338F4}"/>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3A9D2CA3-2F23-5846-FF3A-7DDDFE9832F1}"/>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12C62D9B-C133-22D6-3DFF-958582B3947D}"/>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68868E9A-FD0E-C064-51E8-B375F5A98C75}"/>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D273B2DB-6BB8-784A-7AD1-BF89AFFDB42D}"/>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19958390-AB08-9A46-27E9-82034C02856D}"/>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7</a:t>
            </a:fld>
            <a:endParaRPr spc="-50" dirty="0"/>
          </a:p>
        </p:txBody>
      </p:sp>
      <p:sp>
        <p:nvSpPr>
          <p:cNvPr id="13" name="TextBox 12">
            <a:extLst>
              <a:ext uri="{FF2B5EF4-FFF2-40B4-BE49-F238E27FC236}">
                <a16:creationId xmlns:a16="http://schemas.microsoft.com/office/drawing/2014/main" id="{E1399699-7FEA-7C2A-5A4B-02C46C456810}"/>
              </a:ext>
            </a:extLst>
          </p:cNvPr>
          <p:cNvSpPr txBox="1"/>
          <p:nvPr/>
        </p:nvSpPr>
        <p:spPr>
          <a:xfrm>
            <a:off x="1973700" y="189939"/>
            <a:ext cx="5257800" cy="369332"/>
          </a:xfrm>
          <a:prstGeom prst="rect">
            <a:avLst/>
          </a:prstGeom>
          <a:noFill/>
        </p:spPr>
        <p:txBody>
          <a:bodyPr wrap="square" rtlCol="0">
            <a:spAutoFit/>
          </a:bodyPr>
          <a:lstStyle/>
          <a:p>
            <a:pPr algn="ctr"/>
            <a:r>
              <a:rPr lang="en-US" b="1" dirty="0"/>
              <a:t>Smart CX - Payments</a:t>
            </a:r>
          </a:p>
        </p:txBody>
      </p:sp>
      <p:sp>
        <p:nvSpPr>
          <p:cNvPr id="12" name="TextBox 11">
            <a:extLst>
              <a:ext uri="{FF2B5EF4-FFF2-40B4-BE49-F238E27FC236}">
                <a16:creationId xmlns:a16="http://schemas.microsoft.com/office/drawing/2014/main" id="{87157928-83B0-5E4B-695E-8078561BCE68}"/>
              </a:ext>
            </a:extLst>
          </p:cNvPr>
          <p:cNvSpPr txBox="1"/>
          <p:nvPr/>
        </p:nvSpPr>
        <p:spPr>
          <a:xfrm>
            <a:off x="487800" y="1304089"/>
            <a:ext cx="8229600" cy="3046988"/>
          </a:xfrm>
          <a:prstGeom prst="rect">
            <a:avLst/>
          </a:prstGeom>
          <a:noFill/>
        </p:spPr>
        <p:txBody>
          <a:bodyPr wrap="square" rtlCol="0">
            <a:spAutoFit/>
          </a:bodyPr>
          <a:lstStyle/>
          <a:p>
            <a:r>
              <a:rPr lang="en-US" sz="1600" b="1" dirty="0"/>
              <a:t>Auto Payment - </a:t>
            </a:r>
            <a:r>
              <a:rPr lang="en-US" sz="1600" dirty="0"/>
              <a:t>is a feature where the system automatically pays the user's bill before the due date using the user's saved payment method. </a:t>
            </a:r>
          </a:p>
          <a:p>
            <a:r>
              <a:rPr lang="en-US" sz="1600" dirty="0"/>
              <a:t>So the user does not need to manually pay the bill every month.</a:t>
            </a:r>
          </a:p>
          <a:p>
            <a:endParaRPr lang="en-US" sz="1600" dirty="0"/>
          </a:p>
          <a:p>
            <a:br>
              <a:rPr lang="en-US" sz="1600" dirty="0"/>
            </a:br>
            <a:endParaRPr lang="en-US" sz="1600" dirty="0"/>
          </a:p>
          <a:p>
            <a:r>
              <a:rPr lang="en-US" sz="1600" b="1" dirty="0"/>
              <a:t>Current Billing - </a:t>
            </a:r>
            <a:r>
              <a:rPr lang="en-US" sz="1600" dirty="0"/>
              <a:t>The Current Bill screen provides the user the ability to view a detailed breakup of due Bill amount under ‘Bill Summary’ for the current bill period and the future scheduled payments. Make Payment feature is also available in this screen.</a:t>
            </a:r>
            <a:endParaRPr lang="en-US" sz="1600" b="1" dirty="0"/>
          </a:p>
          <a:p>
            <a:br>
              <a:rPr lang="en-US" sz="1600" dirty="0"/>
            </a:br>
            <a:endParaRPr lang="en-US" sz="1600" dirty="0"/>
          </a:p>
          <a:p>
            <a:endParaRPr lang="en-US" sz="1600" b="1" dirty="0"/>
          </a:p>
        </p:txBody>
      </p:sp>
    </p:spTree>
    <p:extLst>
      <p:ext uri="{BB962C8B-B14F-4D97-AF65-F5344CB8AC3E}">
        <p14:creationId xmlns:p14="http://schemas.microsoft.com/office/powerpoint/2010/main" val="160555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0FFA011-B980-A8C5-3AFD-546FD442E0E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D29E571-2916-3FAD-5802-62ACE3B39125}"/>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B5B2DA0B-9AB4-01BE-7D5F-B481314A602A}"/>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9593DC87-ECCE-E30C-D4AD-32569B4BBC83}"/>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71021875-B1CB-97FC-8F04-0183676E7C12}"/>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18D04569-36D1-EC1F-0864-215869CDB165}"/>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18B6F640-9C91-FB8B-615B-A77C0F247978}"/>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24D0234F-05CB-2564-03C6-C341D6A0686C}"/>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4020C21B-DAD7-E483-E27C-A5D20361C352}"/>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09186FF6-5394-550C-0DC3-3AA888DDB4FB}"/>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BA9562F1-58B3-363C-7988-A951A8A3853E}"/>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8</a:t>
            </a:fld>
            <a:endParaRPr spc="-50" dirty="0"/>
          </a:p>
        </p:txBody>
      </p:sp>
      <p:sp>
        <p:nvSpPr>
          <p:cNvPr id="13" name="TextBox 12">
            <a:extLst>
              <a:ext uri="{FF2B5EF4-FFF2-40B4-BE49-F238E27FC236}">
                <a16:creationId xmlns:a16="http://schemas.microsoft.com/office/drawing/2014/main" id="{0924D2E1-CE79-65A6-F596-A0FF81A144B3}"/>
              </a:ext>
            </a:extLst>
          </p:cNvPr>
          <p:cNvSpPr txBox="1"/>
          <p:nvPr/>
        </p:nvSpPr>
        <p:spPr>
          <a:xfrm>
            <a:off x="1973700" y="189939"/>
            <a:ext cx="5257800" cy="369332"/>
          </a:xfrm>
          <a:prstGeom prst="rect">
            <a:avLst/>
          </a:prstGeom>
          <a:noFill/>
        </p:spPr>
        <p:txBody>
          <a:bodyPr wrap="square" rtlCol="0">
            <a:spAutoFit/>
          </a:bodyPr>
          <a:lstStyle/>
          <a:p>
            <a:pPr algn="ctr"/>
            <a:r>
              <a:rPr lang="en-US" b="1" dirty="0"/>
              <a:t>Smart CX - Payments</a:t>
            </a:r>
          </a:p>
        </p:txBody>
      </p:sp>
      <p:sp>
        <p:nvSpPr>
          <p:cNvPr id="12" name="TextBox 11">
            <a:extLst>
              <a:ext uri="{FF2B5EF4-FFF2-40B4-BE49-F238E27FC236}">
                <a16:creationId xmlns:a16="http://schemas.microsoft.com/office/drawing/2014/main" id="{FB526C4E-1493-BB54-D1DD-4B67D649769F}"/>
              </a:ext>
            </a:extLst>
          </p:cNvPr>
          <p:cNvSpPr txBox="1"/>
          <p:nvPr/>
        </p:nvSpPr>
        <p:spPr>
          <a:xfrm>
            <a:off x="594159" y="1010108"/>
            <a:ext cx="8090482" cy="4031873"/>
          </a:xfrm>
          <a:prstGeom prst="rect">
            <a:avLst/>
          </a:prstGeom>
          <a:noFill/>
        </p:spPr>
        <p:txBody>
          <a:bodyPr wrap="square" rtlCol="0">
            <a:spAutoFit/>
          </a:bodyPr>
          <a:lstStyle/>
          <a:p>
            <a:r>
              <a:rPr lang="en-US" sz="1600" b="1" dirty="0"/>
              <a:t>Text to pay </a:t>
            </a:r>
            <a:r>
              <a:rPr lang="en-US" sz="1600" dirty="0"/>
              <a:t>-  Text to Pay allows a user to pay their bill using SMS </a:t>
            </a:r>
          </a:p>
          <a:p>
            <a:r>
              <a:rPr lang="en-US" sz="1600" dirty="0"/>
              <a:t>The user first enrolls by providing:</a:t>
            </a:r>
          </a:p>
          <a:p>
            <a:pPr lvl="0"/>
            <a:r>
              <a:rPr lang="en-US" sz="1600" dirty="0"/>
              <a:t>Phone number</a:t>
            </a:r>
          </a:p>
          <a:p>
            <a:pPr lvl="0"/>
            <a:r>
              <a:rPr lang="en-US" sz="1600" dirty="0"/>
              <a:t>Payment method (card/bank) </a:t>
            </a:r>
            <a:r>
              <a:rPr lang="en-US" sz="1600" dirty="0">
                <a:solidFill>
                  <a:srgbClr val="FF0000"/>
                </a:solidFill>
              </a:rPr>
              <a:t>(Fig)</a:t>
            </a:r>
          </a:p>
          <a:p>
            <a:pPr lvl="0" algn="l"/>
            <a:endParaRPr lang="en-US" sz="1600" dirty="0">
              <a:solidFill>
                <a:srgbClr val="FF0000"/>
              </a:solidFill>
            </a:endParaRPr>
          </a:p>
          <a:p>
            <a:pPr algn="l"/>
            <a:r>
              <a:rPr lang="en-US" sz="1600" b="1" dirty="0"/>
              <a:t>Payment Arrangements </a:t>
            </a:r>
            <a:r>
              <a:rPr lang="en-US" sz="1600" dirty="0">
                <a:solidFill>
                  <a:srgbClr val="FF0000"/>
                </a:solidFill>
              </a:rPr>
              <a:t>(Fig)</a:t>
            </a:r>
            <a:endParaRPr lang="en-US" sz="1600" b="1" dirty="0"/>
          </a:p>
          <a:p>
            <a:pPr algn="l"/>
            <a:r>
              <a:rPr lang="en-US" sz="1800" dirty="0"/>
              <a:t>Payment Extension - If the eligible user wants to extend the due date for the outstanding bill the user can click on request extension button and select the configured extension date</a:t>
            </a:r>
          </a:p>
          <a:p>
            <a:pPr algn="l"/>
            <a:endParaRPr lang="en-US" sz="1800" dirty="0"/>
          </a:p>
          <a:p>
            <a:pPr algn="l"/>
            <a:r>
              <a:rPr lang="en-US" sz="1800" dirty="0"/>
              <a:t>Payment Installment - : If the eligible user wants to opt in for installment plan the user can click on Request Installment Plan button and user will be able to pay bill between two to six equal installments along with the current bill amount.</a:t>
            </a:r>
          </a:p>
          <a:p>
            <a:pPr algn="ctr"/>
            <a:endParaRPr lang="en-US" sz="1600" b="1" dirty="0"/>
          </a:p>
        </p:txBody>
      </p:sp>
    </p:spTree>
    <p:extLst>
      <p:ext uri="{BB962C8B-B14F-4D97-AF65-F5344CB8AC3E}">
        <p14:creationId xmlns:p14="http://schemas.microsoft.com/office/powerpoint/2010/main" val="160705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5BB4D0-8258-6E34-1B9E-7A9FF9070DF5}"/>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BEC92DFD-14C2-0EB6-D3FB-233DD333F769}"/>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DB1AC508-4AD8-A89E-A5BB-99C32617E301}"/>
              </a:ext>
            </a:extLst>
          </p:cNvPr>
          <p:cNvGrpSpPr/>
          <p:nvPr/>
        </p:nvGrpSpPr>
        <p:grpSpPr>
          <a:xfrm>
            <a:off x="0" y="-47645"/>
            <a:ext cx="9105900" cy="5124470"/>
            <a:chOff x="0" y="-21"/>
            <a:chExt cx="9105900" cy="5124470"/>
          </a:xfrm>
        </p:grpSpPr>
        <p:pic>
          <p:nvPicPr>
            <p:cNvPr id="4" name="object 4">
              <a:extLst>
                <a:ext uri="{FF2B5EF4-FFF2-40B4-BE49-F238E27FC236}">
                  <a16:creationId xmlns:a16="http://schemas.microsoft.com/office/drawing/2014/main" id="{54AD77E8-B104-FD94-3795-CF82D74AC639}"/>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AFD040CC-749E-5620-7C5B-DE331B884254}"/>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C54382FB-0385-9747-855B-7461FF0ED5D0}"/>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3C394327-C2AB-DC77-B736-DE53D64D0A65}"/>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606C3E5F-7B3C-42D2-1B90-7C72CBD2D622}"/>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E0E1A029-1E7A-8949-867C-C02A11238488}"/>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D5D06D18-5114-CD7A-7210-208C0AE01096}"/>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346D8390-ED97-AC0F-E5D0-512C2A2D033B}"/>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9</a:t>
            </a:fld>
            <a:endParaRPr spc="-50" dirty="0"/>
          </a:p>
        </p:txBody>
      </p:sp>
      <p:sp>
        <p:nvSpPr>
          <p:cNvPr id="13" name="TextBox 12">
            <a:extLst>
              <a:ext uri="{FF2B5EF4-FFF2-40B4-BE49-F238E27FC236}">
                <a16:creationId xmlns:a16="http://schemas.microsoft.com/office/drawing/2014/main" id="{910039CB-6616-A25A-2430-0E413E101BC8}"/>
              </a:ext>
            </a:extLst>
          </p:cNvPr>
          <p:cNvSpPr txBox="1"/>
          <p:nvPr/>
        </p:nvSpPr>
        <p:spPr>
          <a:xfrm>
            <a:off x="1973700" y="189939"/>
            <a:ext cx="5257800" cy="369332"/>
          </a:xfrm>
          <a:prstGeom prst="rect">
            <a:avLst/>
          </a:prstGeom>
          <a:noFill/>
        </p:spPr>
        <p:txBody>
          <a:bodyPr wrap="square" rtlCol="0">
            <a:spAutoFit/>
          </a:bodyPr>
          <a:lstStyle/>
          <a:p>
            <a:pPr algn="ctr"/>
            <a:r>
              <a:rPr lang="en-US" b="1" dirty="0"/>
              <a:t>Smart CX - Payments</a:t>
            </a:r>
          </a:p>
        </p:txBody>
      </p:sp>
      <p:sp>
        <p:nvSpPr>
          <p:cNvPr id="15" name="TextBox 14">
            <a:extLst>
              <a:ext uri="{FF2B5EF4-FFF2-40B4-BE49-F238E27FC236}">
                <a16:creationId xmlns:a16="http://schemas.microsoft.com/office/drawing/2014/main" id="{1A521CF7-BC99-DB2B-23FA-6A7B16CCBC9B}"/>
              </a:ext>
            </a:extLst>
          </p:cNvPr>
          <p:cNvSpPr txBox="1"/>
          <p:nvPr/>
        </p:nvSpPr>
        <p:spPr>
          <a:xfrm>
            <a:off x="500634" y="547025"/>
            <a:ext cx="8076311" cy="4801314"/>
          </a:xfrm>
          <a:prstGeom prst="rect">
            <a:avLst/>
          </a:prstGeom>
          <a:noFill/>
        </p:spPr>
        <p:txBody>
          <a:bodyPr wrap="square" rtlCol="0">
            <a:spAutoFit/>
          </a:bodyPr>
          <a:lstStyle/>
          <a:p>
            <a:r>
              <a:rPr lang="en-US" sz="1600" b="1" dirty="0"/>
              <a:t>Payment Information </a:t>
            </a:r>
            <a:r>
              <a:rPr lang="en-US" sz="1600" dirty="0"/>
              <a:t>-</a:t>
            </a:r>
            <a:r>
              <a:rPr lang="en-US" sz="1800" dirty="0"/>
              <a:t> </a:t>
            </a:r>
            <a:r>
              <a:rPr lang="en-US" sz="1600" dirty="0"/>
              <a:t>the section where users add, manage, and store payment methods to pay their bills</a:t>
            </a:r>
          </a:p>
          <a:p>
            <a:endParaRPr lang="en-US" sz="1600" dirty="0"/>
          </a:p>
          <a:p>
            <a:r>
              <a:rPr lang="en-US" sz="1600" b="1" dirty="0"/>
              <a:t>Billing Queries </a:t>
            </a:r>
            <a:r>
              <a:rPr lang="en-US" sz="1600" dirty="0"/>
              <a:t>- This module allows user to raise/send their queries to the Utility company.</a:t>
            </a:r>
          </a:p>
          <a:p>
            <a:endParaRPr lang="en-US" sz="1600" b="1" dirty="0"/>
          </a:p>
          <a:p>
            <a:r>
              <a:rPr lang="en-US" sz="1600" b="1" dirty="0"/>
              <a:t>Billing and Payment History </a:t>
            </a:r>
            <a:r>
              <a:rPr lang="en-US" sz="1600" dirty="0"/>
              <a:t>-</a:t>
            </a:r>
            <a:r>
              <a:rPr lang="en-US" sz="1600" b="1" dirty="0"/>
              <a:t> </a:t>
            </a:r>
            <a:r>
              <a:rPr lang="en-US" sz="1600" dirty="0"/>
              <a:t>The Billing &amp; Payment History page allows users to view their past bills and payment transactions, including bill details, due amounts, and payment records within a selected date range.</a:t>
            </a:r>
          </a:p>
          <a:p>
            <a:endParaRPr lang="en-US" sz="1600" b="1" dirty="0"/>
          </a:p>
          <a:p>
            <a:r>
              <a:rPr lang="en-US" sz="1600" dirty="0">
                <a:solidFill>
                  <a:srgbClr val="FF0000"/>
                </a:solidFill>
              </a:rPr>
              <a:t>Bill Date </a:t>
            </a:r>
            <a:r>
              <a:rPr lang="en-US" sz="1600" dirty="0"/>
              <a:t>- The date when the bill is generated.</a:t>
            </a:r>
          </a:p>
          <a:p>
            <a:r>
              <a:rPr lang="en-US" sz="1600" dirty="0">
                <a:solidFill>
                  <a:srgbClr val="FF0000"/>
                </a:solidFill>
              </a:rPr>
              <a:t>Due Date </a:t>
            </a:r>
            <a:r>
              <a:rPr lang="en-US" sz="1600" dirty="0"/>
              <a:t>- The last date to pay the bill without penalty.</a:t>
            </a:r>
          </a:p>
          <a:p>
            <a:r>
              <a:rPr lang="en-US" sz="1600" dirty="0">
                <a:solidFill>
                  <a:srgbClr val="FF0000"/>
                </a:solidFill>
              </a:rPr>
              <a:t>Previous Balance </a:t>
            </a:r>
            <a:r>
              <a:rPr lang="en-US" sz="1600" b="1" dirty="0"/>
              <a:t>- </a:t>
            </a:r>
            <a:r>
              <a:rPr lang="en-US" sz="1600" dirty="0"/>
              <a:t>Amount left unpaid from your last bill.</a:t>
            </a:r>
          </a:p>
          <a:p>
            <a:r>
              <a:rPr lang="en-US" sz="1600" dirty="0">
                <a:solidFill>
                  <a:srgbClr val="FF0000"/>
                </a:solidFill>
              </a:rPr>
              <a:t>Current Charges </a:t>
            </a:r>
            <a:r>
              <a:rPr lang="en-US" sz="1600" b="1" dirty="0"/>
              <a:t>- </a:t>
            </a:r>
            <a:r>
              <a:rPr lang="en-US" sz="1600" dirty="0"/>
              <a:t>Charges for this month’s usage (electricity/water/gas).</a:t>
            </a:r>
          </a:p>
          <a:p>
            <a:r>
              <a:rPr lang="en-US" sz="1600" dirty="0">
                <a:solidFill>
                  <a:srgbClr val="FF0000"/>
                </a:solidFill>
              </a:rPr>
              <a:t>Late Fees </a:t>
            </a:r>
            <a:r>
              <a:rPr lang="en-US" sz="1600" b="1" dirty="0"/>
              <a:t>- </a:t>
            </a:r>
            <a:r>
              <a:rPr lang="en-US" sz="1600" dirty="0"/>
              <a:t>Extra charge added if you did not pay on time.</a:t>
            </a:r>
          </a:p>
          <a:p>
            <a:endParaRPr lang="en-US" sz="1600" dirty="0"/>
          </a:p>
          <a:p>
            <a:endParaRPr lang="en-US" sz="1600" dirty="0"/>
          </a:p>
          <a:p>
            <a:endParaRPr lang="en-US" sz="1600" dirty="0"/>
          </a:p>
          <a:p>
            <a:endParaRPr lang="en-US" sz="1600" b="1" dirty="0"/>
          </a:p>
        </p:txBody>
      </p:sp>
    </p:spTree>
    <p:extLst>
      <p:ext uri="{BB962C8B-B14F-4D97-AF65-F5344CB8AC3E}">
        <p14:creationId xmlns:p14="http://schemas.microsoft.com/office/powerpoint/2010/main" val="90767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3C7FB9-C9A1-374E-6042-FCBB144F7A9B}"/>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65C6DE0-F97E-7021-1D3A-6C44F1602098}"/>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8E667267-A9BC-9916-741C-46F2E75A78D1}"/>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59084543-15C5-14FA-E7BF-CD1DE34D51FB}"/>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B1B8B051-7ABF-5C00-997D-435E917B4CEE}"/>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978A9C6A-A340-3EC8-DB17-02B4B544520C}"/>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26F0C707-5858-D2DE-E090-156DEE2356BD}"/>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D2A1374A-6866-DA32-4E35-CD7A27921560}"/>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F09CDB50-4796-D418-75F9-8D11B9EE78EC}"/>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D5CBC4BE-A560-6F24-A2F2-ACD3FEAF2C78}"/>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E8B61530-2709-14F9-3519-8833D8869DA8}"/>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10</a:t>
            </a:fld>
            <a:endParaRPr spc="-50" dirty="0"/>
          </a:p>
        </p:txBody>
      </p:sp>
      <p:sp>
        <p:nvSpPr>
          <p:cNvPr id="13" name="TextBox 12">
            <a:extLst>
              <a:ext uri="{FF2B5EF4-FFF2-40B4-BE49-F238E27FC236}">
                <a16:creationId xmlns:a16="http://schemas.microsoft.com/office/drawing/2014/main" id="{4034345E-8C81-7C22-36C9-B97F433F04CA}"/>
              </a:ext>
            </a:extLst>
          </p:cNvPr>
          <p:cNvSpPr txBox="1"/>
          <p:nvPr/>
        </p:nvSpPr>
        <p:spPr>
          <a:xfrm>
            <a:off x="1085850" y="165901"/>
            <a:ext cx="6934200" cy="369332"/>
          </a:xfrm>
          <a:prstGeom prst="rect">
            <a:avLst/>
          </a:prstGeom>
          <a:noFill/>
        </p:spPr>
        <p:txBody>
          <a:bodyPr wrap="square" rtlCol="0">
            <a:spAutoFit/>
          </a:bodyPr>
          <a:lstStyle/>
          <a:p>
            <a:pPr algn="ctr"/>
            <a:r>
              <a:rPr lang="en-US" b="1" dirty="0"/>
              <a:t>Billing and Payments </a:t>
            </a:r>
          </a:p>
        </p:txBody>
      </p:sp>
      <p:sp>
        <p:nvSpPr>
          <p:cNvPr id="12" name="TextBox 11">
            <a:extLst>
              <a:ext uri="{FF2B5EF4-FFF2-40B4-BE49-F238E27FC236}">
                <a16:creationId xmlns:a16="http://schemas.microsoft.com/office/drawing/2014/main" id="{FB167E86-746B-A23B-25B4-D8DE0FA398C3}"/>
              </a:ext>
            </a:extLst>
          </p:cNvPr>
          <p:cNvSpPr txBox="1"/>
          <p:nvPr/>
        </p:nvSpPr>
        <p:spPr>
          <a:xfrm>
            <a:off x="469392" y="706501"/>
            <a:ext cx="8167116" cy="4031873"/>
          </a:xfrm>
          <a:prstGeom prst="rect">
            <a:avLst/>
          </a:prstGeom>
          <a:noFill/>
        </p:spPr>
        <p:txBody>
          <a:bodyPr wrap="square" rtlCol="0">
            <a:spAutoFit/>
          </a:bodyPr>
          <a:lstStyle/>
          <a:p>
            <a:r>
              <a:rPr lang="en-US" sz="1600" b="1" dirty="0"/>
              <a:t>Budget My Bill - </a:t>
            </a:r>
            <a:r>
              <a:rPr lang="en-US" sz="1600" dirty="0"/>
              <a:t>user can set a spending limit for alerts. (Hidden Feature)</a:t>
            </a:r>
          </a:p>
          <a:p>
            <a:endParaRPr lang="en-US" sz="1600" dirty="0"/>
          </a:p>
          <a:p>
            <a:r>
              <a:rPr lang="en-US" sz="1600" dirty="0"/>
              <a:t>Example:</a:t>
            </a:r>
          </a:p>
          <a:p>
            <a:endParaRPr lang="en-US" sz="1600" dirty="0"/>
          </a:p>
          <a:p>
            <a:r>
              <a:rPr lang="en-US" sz="1600" dirty="0"/>
              <a:t>User decides:</a:t>
            </a:r>
          </a:p>
          <a:p>
            <a:r>
              <a:rPr lang="en-US" sz="1600" dirty="0"/>
              <a:t>Alert me if my usage goes above $100 this month</a:t>
            </a:r>
            <a:endParaRPr lang="en-US" sz="1600" b="1" dirty="0"/>
          </a:p>
          <a:p>
            <a:r>
              <a:rPr lang="en-US" sz="1600" dirty="0"/>
              <a:t>80$ - No Alert </a:t>
            </a:r>
          </a:p>
          <a:p>
            <a:r>
              <a:rPr lang="en-US" sz="1600" dirty="0"/>
              <a:t>105$ - Email Alert Send</a:t>
            </a:r>
          </a:p>
          <a:p>
            <a:r>
              <a:rPr lang="en-US" sz="1600" dirty="0"/>
              <a:t>This is not changing the bill — it’s only monitoring spending.</a:t>
            </a:r>
          </a:p>
          <a:p>
            <a:endParaRPr lang="en-US" sz="1600" dirty="0"/>
          </a:p>
          <a:p>
            <a:r>
              <a:rPr lang="en-US" sz="1600" dirty="0"/>
              <a:t>Eligibility – Users must have an AMI meter </a:t>
            </a:r>
          </a:p>
          <a:p>
            <a:endParaRPr lang="en-US" sz="1600" dirty="0"/>
          </a:p>
          <a:p>
            <a:r>
              <a:rPr lang="en-US" sz="1600" dirty="0">
                <a:solidFill>
                  <a:srgbClr val="FF0000"/>
                </a:solidFill>
              </a:rPr>
              <a:t>AMI meter </a:t>
            </a:r>
            <a:r>
              <a:rPr lang="en-US" sz="1600" dirty="0"/>
              <a:t>stands for Advanced Metering Infrastructure.</a:t>
            </a:r>
          </a:p>
          <a:p>
            <a:r>
              <a:rPr lang="en-US" sz="1600" dirty="0"/>
              <a:t>An AMI meter is a smart meter that can automatically send electricity/water/gas usage data to the utility company.</a:t>
            </a:r>
          </a:p>
          <a:p>
            <a:endParaRPr lang="en-US" sz="1600" dirty="0"/>
          </a:p>
        </p:txBody>
      </p:sp>
    </p:spTree>
    <p:extLst>
      <p:ext uri="{BB962C8B-B14F-4D97-AF65-F5344CB8AC3E}">
        <p14:creationId xmlns:p14="http://schemas.microsoft.com/office/powerpoint/2010/main" val="3950221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7CFD86-3B95-FB64-242E-72BB2B356CCA}"/>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2D5A2DE-8FBC-D97E-9989-9E9FB52873A0}"/>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191688D5-6413-6ACD-F9CC-77CB17F406DD}"/>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F2AC8FA9-889B-6588-4347-41CAC07CEF50}"/>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26A5F1BB-4456-7FB5-169B-C86D23EBC49E}"/>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108C5222-D87D-140C-68C0-F5EBE7C79F73}"/>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7952FA29-3760-831E-D7B3-EE901679E274}"/>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2D5E15F2-37DA-0694-BC1E-0634D96FA55D}"/>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AC82B69B-BA2F-5576-A549-DA5065A8D4BD}"/>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69D1E5A6-0284-67A3-7504-7A2E952C2121}"/>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D5BDE7C7-409F-5284-8690-C12583BBA48E}"/>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11</a:t>
            </a:fld>
            <a:endParaRPr spc="-50" dirty="0"/>
          </a:p>
        </p:txBody>
      </p:sp>
      <p:sp>
        <p:nvSpPr>
          <p:cNvPr id="16" name="TextBox 15">
            <a:extLst>
              <a:ext uri="{FF2B5EF4-FFF2-40B4-BE49-F238E27FC236}">
                <a16:creationId xmlns:a16="http://schemas.microsoft.com/office/drawing/2014/main" id="{2CBD98AF-9744-61F3-9192-0BE56C0A32A7}"/>
              </a:ext>
            </a:extLst>
          </p:cNvPr>
          <p:cNvSpPr txBox="1"/>
          <p:nvPr/>
        </p:nvSpPr>
        <p:spPr>
          <a:xfrm>
            <a:off x="1352550" y="200025"/>
            <a:ext cx="6248400" cy="646331"/>
          </a:xfrm>
          <a:prstGeom prst="rect">
            <a:avLst/>
          </a:prstGeom>
          <a:noFill/>
        </p:spPr>
        <p:txBody>
          <a:bodyPr wrap="square" rtlCol="0">
            <a:spAutoFit/>
          </a:bodyPr>
          <a:lstStyle/>
          <a:p>
            <a:pPr algn="ctr"/>
            <a:r>
              <a:rPr lang="en-US" b="1" dirty="0"/>
              <a:t>Billing and Payments </a:t>
            </a:r>
          </a:p>
          <a:p>
            <a:endParaRPr lang="en-US" dirty="0"/>
          </a:p>
        </p:txBody>
      </p:sp>
      <p:pic>
        <p:nvPicPr>
          <p:cNvPr id="18" name="Picture 17">
            <a:extLst>
              <a:ext uri="{FF2B5EF4-FFF2-40B4-BE49-F238E27FC236}">
                <a16:creationId xmlns:a16="http://schemas.microsoft.com/office/drawing/2014/main" id="{E8C292A4-E9D9-BF55-E942-8FDB7C0E1E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57750" y="631235"/>
            <a:ext cx="2895600" cy="4008596"/>
          </a:xfrm>
          <a:prstGeom prst="rect">
            <a:avLst/>
          </a:prstGeom>
        </p:spPr>
      </p:pic>
      <p:sp>
        <p:nvSpPr>
          <p:cNvPr id="19" name="TextBox 18">
            <a:extLst>
              <a:ext uri="{FF2B5EF4-FFF2-40B4-BE49-F238E27FC236}">
                <a16:creationId xmlns:a16="http://schemas.microsoft.com/office/drawing/2014/main" id="{F330B1D1-F55C-AE1A-EEFD-07F6F00B9069}"/>
              </a:ext>
            </a:extLst>
          </p:cNvPr>
          <p:cNvSpPr txBox="1"/>
          <p:nvPr/>
        </p:nvSpPr>
        <p:spPr>
          <a:xfrm>
            <a:off x="590550" y="1692730"/>
            <a:ext cx="3962400" cy="1323439"/>
          </a:xfrm>
          <a:prstGeom prst="rect">
            <a:avLst/>
          </a:prstGeom>
          <a:noFill/>
        </p:spPr>
        <p:txBody>
          <a:bodyPr wrap="square" rtlCol="0">
            <a:spAutoFit/>
          </a:bodyPr>
          <a:lstStyle/>
          <a:p>
            <a:r>
              <a:rPr lang="en-US" sz="1600" b="1" dirty="0"/>
              <a:t>Schedule Payment </a:t>
            </a:r>
            <a:r>
              <a:rPr lang="en-US" sz="1600" dirty="0"/>
              <a:t>- Scheduled Payment feature allows user to schedule a payment for future. The payment will be processed on the provided date using the provided payment method.</a:t>
            </a:r>
          </a:p>
        </p:txBody>
      </p:sp>
    </p:spTree>
    <p:extLst>
      <p:ext uri="{BB962C8B-B14F-4D97-AF65-F5344CB8AC3E}">
        <p14:creationId xmlns:p14="http://schemas.microsoft.com/office/powerpoint/2010/main" val="3173323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B674FF-3340-2733-DA58-9AF396E64472}"/>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5B281557-9274-F58A-F9D5-6C9BA8EDAE7B}"/>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5B0778EF-A44A-4EEB-A46C-9E95FFB4DF39}"/>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674D4685-89AB-EC75-A50B-B72E18F5B892}"/>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BA5CCB5D-40C8-6368-F46B-C1F6450436F2}"/>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2AF76A39-29FE-BF71-EE56-92B73456487A}"/>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991F9B38-D362-4EF0-E411-97E2D729BE82}"/>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450A9039-2D94-D919-7A3A-4794D9B45C24}"/>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D1610B8E-3D63-B673-B3AA-17841157813C}"/>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47295C5B-6E29-8390-FF3B-9A361373992D}"/>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36A76DE2-4B9D-E592-B72C-9B5C88263AC3}"/>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12</a:t>
            </a:fld>
            <a:endParaRPr spc="-50" dirty="0"/>
          </a:p>
        </p:txBody>
      </p:sp>
      <p:sp>
        <p:nvSpPr>
          <p:cNvPr id="13" name="TextBox 12">
            <a:extLst>
              <a:ext uri="{FF2B5EF4-FFF2-40B4-BE49-F238E27FC236}">
                <a16:creationId xmlns:a16="http://schemas.microsoft.com/office/drawing/2014/main" id="{73467774-543C-B2B1-31D7-EF487970913A}"/>
              </a:ext>
            </a:extLst>
          </p:cNvPr>
          <p:cNvSpPr txBox="1"/>
          <p:nvPr/>
        </p:nvSpPr>
        <p:spPr>
          <a:xfrm>
            <a:off x="929005" y="189939"/>
            <a:ext cx="7129145" cy="369332"/>
          </a:xfrm>
          <a:prstGeom prst="rect">
            <a:avLst/>
          </a:prstGeom>
          <a:noFill/>
        </p:spPr>
        <p:txBody>
          <a:bodyPr wrap="square" rtlCol="0">
            <a:spAutoFit/>
          </a:bodyPr>
          <a:lstStyle/>
          <a:p>
            <a:pPr algn="ctr"/>
            <a:r>
              <a:rPr lang="en-US" b="1" dirty="0"/>
              <a:t>Billing and Payments  </a:t>
            </a:r>
          </a:p>
        </p:txBody>
      </p:sp>
      <p:sp>
        <p:nvSpPr>
          <p:cNvPr id="15" name="TextBox 14">
            <a:extLst>
              <a:ext uri="{FF2B5EF4-FFF2-40B4-BE49-F238E27FC236}">
                <a16:creationId xmlns:a16="http://schemas.microsoft.com/office/drawing/2014/main" id="{DE9B66FD-CACF-2AF4-6F04-7AFAF211AA67}"/>
              </a:ext>
            </a:extLst>
          </p:cNvPr>
          <p:cNvSpPr txBox="1"/>
          <p:nvPr/>
        </p:nvSpPr>
        <p:spPr>
          <a:xfrm>
            <a:off x="438150" y="733425"/>
            <a:ext cx="8325866" cy="584775"/>
          </a:xfrm>
          <a:prstGeom prst="rect">
            <a:avLst/>
          </a:prstGeom>
          <a:noFill/>
        </p:spPr>
        <p:txBody>
          <a:bodyPr wrap="square" rtlCol="0">
            <a:spAutoFit/>
          </a:bodyPr>
          <a:lstStyle/>
          <a:p>
            <a:r>
              <a:rPr lang="en-US" sz="1600" b="1" dirty="0"/>
              <a:t>IVR</a:t>
            </a:r>
            <a:r>
              <a:rPr lang="en-US" sz="1600" dirty="0"/>
              <a:t> – (Interactive voice response) lets customers pay their utility bill by calling a phone number and entering payment details through automated voice prompts.</a:t>
            </a:r>
          </a:p>
        </p:txBody>
      </p:sp>
      <p:pic>
        <p:nvPicPr>
          <p:cNvPr id="21" name="Picture 20">
            <a:extLst>
              <a:ext uri="{FF2B5EF4-FFF2-40B4-BE49-F238E27FC236}">
                <a16:creationId xmlns:a16="http://schemas.microsoft.com/office/drawing/2014/main" id="{AC52B321-E900-19B2-8920-5F88D81085C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33550" y="1341353"/>
            <a:ext cx="5234739" cy="1860786"/>
          </a:xfrm>
          <a:prstGeom prst="rect">
            <a:avLst/>
          </a:prstGeom>
        </p:spPr>
      </p:pic>
      <p:sp>
        <p:nvSpPr>
          <p:cNvPr id="23" name="TextBox 22">
            <a:extLst>
              <a:ext uri="{FF2B5EF4-FFF2-40B4-BE49-F238E27FC236}">
                <a16:creationId xmlns:a16="http://schemas.microsoft.com/office/drawing/2014/main" id="{87DFF136-E183-645B-D177-EAA27B7AFB6A}"/>
              </a:ext>
            </a:extLst>
          </p:cNvPr>
          <p:cNvSpPr txBox="1"/>
          <p:nvPr/>
        </p:nvSpPr>
        <p:spPr>
          <a:xfrm>
            <a:off x="514784" y="3400425"/>
            <a:ext cx="8000566" cy="1077218"/>
          </a:xfrm>
          <a:prstGeom prst="rect">
            <a:avLst/>
          </a:prstGeom>
          <a:noFill/>
        </p:spPr>
        <p:txBody>
          <a:bodyPr wrap="square" rtlCol="0">
            <a:spAutoFit/>
          </a:bodyPr>
          <a:lstStyle/>
          <a:p>
            <a:r>
              <a:rPr lang="en-US" sz="1600" dirty="0"/>
              <a:t>IVR asks user to enter details like language type , account number , payment type etc.  </a:t>
            </a:r>
          </a:p>
          <a:p>
            <a:endParaRPr lang="en-US" sz="1600" dirty="0"/>
          </a:p>
          <a:p>
            <a:r>
              <a:rPr lang="en-US" sz="1600" dirty="0">
                <a:solidFill>
                  <a:srgbClr val="FF0000"/>
                </a:solidFill>
              </a:rPr>
              <a:t>Payment Adaptor </a:t>
            </a:r>
            <a:r>
              <a:rPr lang="en-US" sz="1600" dirty="0"/>
              <a:t>- is a middleware component that connects the system to the payment gateway.</a:t>
            </a:r>
          </a:p>
        </p:txBody>
      </p:sp>
    </p:spTree>
    <p:extLst>
      <p:ext uri="{BB962C8B-B14F-4D97-AF65-F5344CB8AC3E}">
        <p14:creationId xmlns:p14="http://schemas.microsoft.com/office/powerpoint/2010/main" val="4113939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F59FA12-0A81-28C9-4B65-828CA87F4E8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19482A59-A27A-1868-125D-808CF34B56BE}"/>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F9FC641A-53A8-144C-9C24-BF4E509FC0E4}"/>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DFC9B0EB-F66D-B87E-DF95-10E3D5432523}"/>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6FF73D0D-561E-5772-A48C-36675B3FA6F8}"/>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78D540ED-114B-340F-1DA0-1323ECF4BE1E}"/>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4CC47BF1-08BE-FE5D-B5A8-7C806C1AC0EA}"/>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19954981-1867-3E14-3FEC-1957031BC8FC}"/>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21620790-0D55-7E36-ED57-826E594B4583}"/>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6692E16C-F852-2105-9CBB-F7743EFB69DE}"/>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27F28CC8-6C07-B3AB-EC1A-3CE40192AD92}"/>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13</a:t>
            </a:fld>
            <a:endParaRPr spc="-50" dirty="0"/>
          </a:p>
        </p:txBody>
      </p:sp>
      <p:sp>
        <p:nvSpPr>
          <p:cNvPr id="13" name="TextBox 12">
            <a:extLst>
              <a:ext uri="{FF2B5EF4-FFF2-40B4-BE49-F238E27FC236}">
                <a16:creationId xmlns:a16="http://schemas.microsoft.com/office/drawing/2014/main" id="{EB4125F1-CB9D-DE8E-D020-CA9DB250A865}"/>
              </a:ext>
            </a:extLst>
          </p:cNvPr>
          <p:cNvSpPr txBox="1"/>
          <p:nvPr/>
        </p:nvSpPr>
        <p:spPr>
          <a:xfrm>
            <a:off x="929005" y="189939"/>
            <a:ext cx="7129145" cy="369332"/>
          </a:xfrm>
          <a:prstGeom prst="rect">
            <a:avLst/>
          </a:prstGeom>
          <a:noFill/>
        </p:spPr>
        <p:txBody>
          <a:bodyPr wrap="square" rtlCol="0">
            <a:spAutoFit/>
          </a:bodyPr>
          <a:lstStyle/>
          <a:p>
            <a:pPr algn="ctr"/>
            <a:r>
              <a:rPr lang="en-US" b="1" dirty="0"/>
              <a:t>Billing and Payments  </a:t>
            </a:r>
          </a:p>
        </p:txBody>
      </p:sp>
      <p:sp>
        <p:nvSpPr>
          <p:cNvPr id="15" name="TextBox 14">
            <a:extLst>
              <a:ext uri="{FF2B5EF4-FFF2-40B4-BE49-F238E27FC236}">
                <a16:creationId xmlns:a16="http://schemas.microsoft.com/office/drawing/2014/main" id="{1BB9C918-1A73-5212-88A5-CF9B95C3D687}"/>
              </a:ext>
            </a:extLst>
          </p:cNvPr>
          <p:cNvSpPr txBox="1"/>
          <p:nvPr/>
        </p:nvSpPr>
        <p:spPr>
          <a:xfrm>
            <a:off x="438150" y="733425"/>
            <a:ext cx="8325866" cy="584775"/>
          </a:xfrm>
          <a:prstGeom prst="rect">
            <a:avLst/>
          </a:prstGeom>
          <a:noFill/>
        </p:spPr>
        <p:txBody>
          <a:bodyPr wrap="square" rtlCol="0">
            <a:spAutoFit/>
          </a:bodyPr>
          <a:lstStyle/>
          <a:p>
            <a:r>
              <a:rPr lang="en-US" sz="1600" b="1" dirty="0"/>
              <a:t>POS</a:t>
            </a:r>
            <a:r>
              <a:rPr lang="en-US" sz="1600" dirty="0"/>
              <a:t> (Point of Sale) payments are payments made physically at the utility office using a POS machine (card swipe device).</a:t>
            </a:r>
          </a:p>
        </p:txBody>
      </p:sp>
      <p:sp>
        <p:nvSpPr>
          <p:cNvPr id="23" name="TextBox 22">
            <a:extLst>
              <a:ext uri="{FF2B5EF4-FFF2-40B4-BE49-F238E27FC236}">
                <a16:creationId xmlns:a16="http://schemas.microsoft.com/office/drawing/2014/main" id="{A3C2E9ED-2A48-E80C-2B96-74C555245803}"/>
              </a:ext>
            </a:extLst>
          </p:cNvPr>
          <p:cNvSpPr txBox="1"/>
          <p:nvPr/>
        </p:nvSpPr>
        <p:spPr>
          <a:xfrm>
            <a:off x="514784" y="3400425"/>
            <a:ext cx="8000566" cy="1692771"/>
          </a:xfrm>
          <a:prstGeom prst="rect">
            <a:avLst/>
          </a:prstGeom>
          <a:noFill/>
        </p:spPr>
        <p:txBody>
          <a:bodyPr wrap="square" rtlCol="0">
            <a:spAutoFit/>
          </a:bodyPr>
          <a:lstStyle/>
          <a:p>
            <a:r>
              <a:rPr lang="en-US" sz="1200" dirty="0"/>
              <a:t>Customer visits office → CSR opens account → Clicks Accept POS Payment → Enters account no. → Customer reviews → Card is swiped/tapped → POS processes payment → Success/Decline shown → System updates records &amp; sends confirmation  </a:t>
            </a:r>
          </a:p>
          <a:p>
            <a:endParaRPr lang="en-US" sz="1600" dirty="0"/>
          </a:p>
          <a:p>
            <a:r>
              <a:rPr lang="en-US" sz="1600" dirty="0">
                <a:solidFill>
                  <a:srgbClr val="FF0000"/>
                </a:solidFill>
              </a:rPr>
              <a:t>CSR </a:t>
            </a:r>
            <a:r>
              <a:rPr lang="en-US" sz="1600" dirty="0"/>
              <a:t>- CSR (Customer Support Representative) is the customer service agent of the utility company who helps customers with their accounts.</a:t>
            </a:r>
          </a:p>
          <a:p>
            <a:endParaRPr lang="en-US" sz="1600" dirty="0"/>
          </a:p>
        </p:txBody>
      </p:sp>
      <p:pic>
        <p:nvPicPr>
          <p:cNvPr id="14" name="Picture 13">
            <a:extLst>
              <a:ext uri="{FF2B5EF4-FFF2-40B4-BE49-F238E27FC236}">
                <a16:creationId xmlns:a16="http://schemas.microsoft.com/office/drawing/2014/main" id="{F177D501-8040-84F2-71AC-8AA67ADADD7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3883" y="1346775"/>
            <a:ext cx="3474107" cy="1894474"/>
          </a:xfrm>
          <a:prstGeom prst="rect">
            <a:avLst/>
          </a:prstGeom>
        </p:spPr>
      </p:pic>
    </p:spTree>
    <p:extLst>
      <p:ext uri="{BB962C8B-B14F-4D97-AF65-F5344CB8AC3E}">
        <p14:creationId xmlns:p14="http://schemas.microsoft.com/office/powerpoint/2010/main" val="3152761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8B8C66F-5B22-577A-7097-E013A3E01BB5}"/>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CF15FC8-9F8C-D03F-106B-0835BBBBE351}"/>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5F804FFC-484D-325D-1A2A-1042BB5038DE}"/>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D3601AF3-4548-9B12-4245-93B08CB9A1BC}"/>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6EBC5F01-1877-8B82-0B2A-CC231B795762}"/>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E2C23B84-2ADC-4CA1-274F-335F57D4C3DA}"/>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2436FB09-C6BF-D976-E736-4F053EEB89A8}"/>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A9FE3134-D6C6-2226-6093-E03A29E37871}"/>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1378EC73-65AE-AE7B-56C2-E1CF374F39F0}"/>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E8F07A11-51AF-D8C8-0EE0-8DCA8CECC458}"/>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1FEAD21A-5825-D851-E3A6-0E45A95C87A7}"/>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14</a:t>
            </a:fld>
            <a:endParaRPr spc="-50" dirty="0"/>
          </a:p>
        </p:txBody>
      </p:sp>
      <p:sp>
        <p:nvSpPr>
          <p:cNvPr id="13" name="TextBox 12">
            <a:extLst>
              <a:ext uri="{FF2B5EF4-FFF2-40B4-BE49-F238E27FC236}">
                <a16:creationId xmlns:a16="http://schemas.microsoft.com/office/drawing/2014/main" id="{A3BB33C9-2050-3267-1C2A-5101EB3F1C21}"/>
              </a:ext>
            </a:extLst>
          </p:cNvPr>
          <p:cNvSpPr txBox="1"/>
          <p:nvPr/>
        </p:nvSpPr>
        <p:spPr>
          <a:xfrm>
            <a:off x="929005" y="189939"/>
            <a:ext cx="7129145" cy="369332"/>
          </a:xfrm>
          <a:prstGeom prst="rect">
            <a:avLst/>
          </a:prstGeom>
          <a:noFill/>
        </p:spPr>
        <p:txBody>
          <a:bodyPr wrap="square" rtlCol="0">
            <a:spAutoFit/>
          </a:bodyPr>
          <a:lstStyle/>
          <a:p>
            <a:pPr algn="ctr"/>
            <a:r>
              <a:rPr lang="en-US" b="1" dirty="0"/>
              <a:t>Billing and Payments</a:t>
            </a:r>
          </a:p>
        </p:txBody>
      </p:sp>
      <p:sp>
        <p:nvSpPr>
          <p:cNvPr id="12" name="TextBox 11">
            <a:extLst>
              <a:ext uri="{FF2B5EF4-FFF2-40B4-BE49-F238E27FC236}">
                <a16:creationId xmlns:a16="http://schemas.microsoft.com/office/drawing/2014/main" id="{805507C7-7AC1-BECF-EFEB-D7D4C5CEF62F}"/>
              </a:ext>
            </a:extLst>
          </p:cNvPr>
          <p:cNvSpPr txBox="1"/>
          <p:nvPr/>
        </p:nvSpPr>
        <p:spPr>
          <a:xfrm>
            <a:off x="337873" y="559271"/>
            <a:ext cx="8482277" cy="4308872"/>
          </a:xfrm>
          <a:prstGeom prst="rect">
            <a:avLst/>
          </a:prstGeom>
          <a:noFill/>
        </p:spPr>
        <p:txBody>
          <a:bodyPr wrap="square" rtlCol="0">
            <a:spAutoFit/>
          </a:bodyPr>
          <a:lstStyle/>
          <a:p>
            <a:endParaRPr lang="en-US" sz="1600" b="1" dirty="0"/>
          </a:p>
          <a:p>
            <a:r>
              <a:rPr lang="en-US" sz="1600" b="1" dirty="0"/>
              <a:t>Payment Reconciliation </a:t>
            </a:r>
            <a:r>
              <a:rPr lang="en-US" sz="1600" dirty="0"/>
              <a:t>- means verifying that all transactions recorded in the system match the funds deposited in the bank and the utility’s billing records. (CIS).</a:t>
            </a:r>
          </a:p>
          <a:p>
            <a:r>
              <a:rPr lang="en-US" sz="1600" dirty="0"/>
              <a:t>In simple terms:</a:t>
            </a:r>
          </a:p>
          <a:p>
            <a:r>
              <a:rPr lang="en-US" sz="1600" dirty="0"/>
              <a:t>Make sure money received = payments recorded in system.</a:t>
            </a:r>
          </a:p>
          <a:p>
            <a:endParaRPr lang="en-US" sz="1600" dirty="0"/>
          </a:p>
          <a:p>
            <a:r>
              <a:rPr lang="en-US" sz="1600" dirty="0"/>
              <a:t>Customers can pay through multiple channels web , app , IVR , POS , E-lockbox , Kiosk .</a:t>
            </a:r>
          </a:p>
          <a:p>
            <a:endParaRPr lang="en-US" sz="1600" dirty="0"/>
          </a:p>
          <a:p>
            <a:r>
              <a:rPr lang="en-US" sz="1600" dirty="0"/>
              <a:t>The accounting team retrieves reports, matches them with bank deposits and CIS records, investigates discrepancies, and finalizes reconciliation.</a:t>
            </a:r>
          </a:p>
          <a:p>
            <a:endParaRPr lang="en-US" sz="1600" dirty="0"/>
          </a:p>
          <a:p>
            <a:endParaRPr lang="en-US" sz="1600" dirty="0"/>
          </a:p>
          <a:p>
            <a:r>
              <a:rPr lang="en-US" sz="1600" dirty="0">
                <a:solidFill>
                  <a:srgbClr val="FF0000"/>
                </a:solidFill>
              </a:rPr>
              <a:t>E-lockbox</a:t>
            </a:r>
            <a:r>
              <a:rPr lang="en-US" sz="1600" dirty="0"/>
              <a:t> - Payments made from your bank account using your bank app or website</a:t>
            </a:r>
          </a:p>
          <a:p>
            <a:r>
              <a:rPr lang="en-US" sz="1600" dirty="0">
                <a:solidFill>
                  <a:srgbClr val="FF0000"/>
                </a:solidFill>
              </a:rPr>
              <a:t>Kiosk</a:t>
            </a:r>
            <a:r>
              <a:rPr lang="en-US" sz="1600" dirty="0"/>
              <a:t> - Payments made at self-service machines .</a:t>
            </a:r>
          </a:p>
          <a:p>
            <a:pPr lvl="0"/>
            <a:r>
              <a:rPr lang="en-US" sz="1600" dirty="0">
                <a:solidFill>
                  <a:srgbClr val="FF0000"/>
                </a:solidFill>
              </a:rPr>
              <a:t>CIS - </a:t>
            </a:r>
            <a:r>
              <a:rPr lang="en-US" sz="1600" dirty="0"/>
              <a:t>(Customer Information System) is a core utility system that stores essential account details, including account numbers, billing addresses, and contact information. </a:t>
            </a:r>
          </a:p>
          <a:p>
            <a:endParaRPr lang="en-US" dirty="0"/>
          </a:p>
        </p:txBody>
      </p:sp>
    </p:spTree>
    <p:extLst>
      <p:ext uri="{BB962C8B-B14F-4D97-AF65-F5344CB8AC3E}">
        <p14:creationId xmlns:p14="http://schemas.microsoft.com/office/powerpoint/2010/main" val="3506341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AF7428B-8A63-BA3F-4C77-892768BBFF8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9348C3CA-E787-A4EB-4760-FAB209AB796C}"/>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E23FD931-9161-D4AC-62CB-3272D543A42A}"/>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5759C8E5-1799-6F91-E20D-A4EC3741FFDF}"/>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BAB194A6-AFA2-9C89-209B-756A2DF598F4}"/>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0333B3CB-8C1E-FDF0-4EC8-A0EB2AB2890F}"/>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E95D3031-6433-8127-F74E-DFACE723B45F}"/>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5A294A73-1C4D-02D9-B598-C1388A9EC076}"/>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7E99F877-444F-2DCC-1907-B5E1F63859BD}"/>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E88253C2-9407-3012-2615-84519858AEBC}"/>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CC49B838-A20A-2337-B693-B606BE3D4E83}"/>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15</a:t>
            </a:fld>
            <a:endParaRPr spc="-50" dirty="0"/>
          </a:p>
        </p:txBody>
      </p:sp>
      <p:sp>
        <p:nvSpPr>
          <p:cNvPr id="13" name="TextBox 12">
            <a:extLst>
              <a:ext uri="{FF2B5EF4-FFF2-40B4-BE49-F238E27FC236}">
                <a16:creationId xmlns:a16="http://schemas.microsoft.com/office/drawing/2014/main" id="{6E605898-F01C-4892-2028-AF12D9446EEA}"/>
              </a:ext>
            </a:extLst>
          </p:cNvPr>
          <p:cNvSpPr txBox="1"/>
          <p:nvPr/>
        </p:nvSpPr>
        <p:spPr>
          <a:xfrm>
            <a:off x="929005" y="189939"/>
            <a:ext cx="7129145" cy="369332"/>
          </a:xfrm>
          <a:prstGeom prst="rect">
            <a:avLst/>
          </a:prstGeom>
          <a:noFill/>
        </p:spPr>
        <p:txBody>
          <a:bodyPr wrap="square" rtlCol="0">
            <a:spAutoFit/>
          </a:bodyPr>
          <a:lstStyle/>
          <a:p>
            <a:pPr algn="ctr"/>
            <a:r>
              <a:rPr lang="en-US" b="1" dirty="0"/>
              <a:t>Billing and Payments</a:t>
            </a:r>
          </a:p>
        </p:txBody>
      </p:sp>
      <p:sp>
        <p:nvSpPr>
          <p:cNvPr id="14" name="TextBox 13">
            <a:extLst>
              <a:ext uri="{FF2B5EF4-FFF2-40B4-BE49-F238E27FC236}">
                <a16:creationId xmlns:a16="http://schemas.microsoft.com/office/drawing/2014/main" id="{2ED38B9D-AB6D-0901-18E5-1C003E2ED837}"/>
              </a:ext>
            </a:extLst>
          </p:cNvPr>
          <p:cNvSpPr txBox="1"/>
          <p:nvPr/>
        </p:nvSpPr>
        <p:spPr>
          <a:xfrm>
            <a:off x="209550" y="733425"/>
            <a:ext cx="4038602" cy="3908762"/>
          </a:xfrm>
          <a:prstGeom prst="rect">
            <a:avLst/>
          </a:prstGeom>
          <a:noFill/>
        </p:spPr>
        <p:txBody>
          <a:bodyPr wrap="square" rtlCol="0">
            <a:spAutoFit/>
          </a:bodyPr>
          <a:lstStyle/>
          <a:p>
            <a:r>
              <a:rPr lang="en-US" sz="1600" b="1" dirty="0"/>
              <a:t>Void</a:t>
            </a:r>
            <a:r>
              <a:rPr lang="en-US" sz="1600" dirty="0"/>
              <a:t> means cancelling a payment before it is settled.</a:t>
            </a:r>
          </a:p>
          <a:p>
            <a:endParaRPr lang="en-US" sz="1600" dirty="0"/>
          </a:p>
          <a:p>
            <a:pPr lvl="0"/>
            <a:r>
              <a:rPr lang="en-US" sz="1600" dirty="0"/>
              <a:t>The money has not yet been transferred to the merchant’s bank.</a:t>
            </a:r>
          </a:p>
          <a:p>
            <a:pPr lvl="0"/>
            <a:endParaRPr lang="en-US" sz="1600" dirty="0"/>
          </a:p>
          <a:p>
            <a:pPr lvl="0"/>
            <a:r>
              <a:rPr lang="en-US" sz="1600" dirty="0"/>
              <a:t>The transaction is cancelled immediately.</a:t>
            </a:r>
          </a:p>
          <a:p>
            <a:pPr lvl="0"/>
            <a:endParaRPr lang="en-US" sz="1600" dirty="0"/>
          </a:p>
          <a:p>
            <a:pPr lvl="0"/>
            <a:endParaRPr lang="en-US" sz="1600" dirty="0"/>
          </a:p>
          <a:p>
            <a:pPr lvl="0"/>
            <a:endParaRPr lang="en-US" sz="1600" dirty="0"/>
          </a:p>
          <a:p>
            <a:r>
              <a:rPr lang="en-US" sz="1400" dirty="0"/>
              <a:t>Example</a:t>
            </a:r>
          </a:p>
          <a:p>
            <a:r>
              <a:rPr lang="en-US" sz="1400" dirty="0"/>
              <a:t>Customer paid $100 by mistake and reports it immediately → CSR voids the transaction.</a:t>
            </a:r>
          </a:p>
          <a:p>
            <a:r>
              <a:rPr lang="en-US" sz="1400" dirty="0"/>
              <a:t> Important rule:</a:t>
            </a:r>
            <a:br>
              <a:rPr lang="en-US" sz="1400" dirty="0"/>
            </a:br>
            <a:r>
              <a:rPr lang="en-US" sz="1400" dirty="0"/>
              <a:t>Void can only be done before settlement.</a:t>
            </a:r>
          </a:p>
          <a:p>
            <a:endParaRPr lang="en-US" dirty="0"/>
          </a:p>
        </p:txBody>
      </p:sp>
      <p:sp>
        <p:nvSpPr>
          <p:cNvPr id="16" name="TextBox 15">
            <a:extLst>
              <a:ext uri="{FF2B5EF4-FFF2-40B4-BE49-F238E27FC236}">
                <a16:creationId xmlns:a16="http://schemas.microsoft.com/office/drawing/2014/main" id="{3E92E1C5-0671-F880-78E1-15B5B882EB42}"/>
              </a:ext>
            </a:extLst>
          </p:cNvPr>
          <p:cNvSpPr txBox="1"/>
          <p:nvPr/>
        </p:nvSpPr>
        <p:spPr>
          <a:xfrm>
            <a:off x="4857750" y="733425"/>
            <a:ext cx="4105275" cy="3908762"/>
          </a:xfrm>
          <a:prstGeom prst="rect">
            <a:avLst/>
          </a:prstGeom>
          <a:noFill/>
        </p:spPr>
        <p:txBody>
          <a:bodyPr wrap="square" rtlCol="0">
            <a:spAutoFit/>
          </a:bodyPr>
          <a:lstStyle/>
          <a:p>
            <a:r>
              <a:rPr lang="en-US" sz="1600" b="1" dirty="0"/>
              <a:t>Refund</a:t>
            </a:r>
            <a:r>
              <a:rPr lang="en-US" sz="1600" dirty="0"/>
              <a:t> means returning money after the payment has already been settled.</a:t>
            </a:r>
          </a:p>
          <a:p>
            <a:endParaRPr lang="en-US" sz="1600" dirty="0"/>
          </a:p>
          <a:p>
            <a:pPr lvl="0"/>
            <a:r>
              <a:rPr lang="en-US" sz="1600" dirty="0"/>
              <a:t>The payment has already reached the merchant’s bank.</a:t>
            </a:r>
          </a:p>
          <a:p>
            <a:pPr lvl="0"/>
            <a:endParaRPr lang="en-US" sz="1600" dirty="0"/>
          </a:p>
          <a:p>
            <a:pPr lvl="0"/>
            <a:r>
              <a:rPr lang="en-US" sz="1600" dirty="0"/>
              <a:t>The system sends a request to return the money to the customer’s bank account/card.</a:t>
            </a:r>
          </a:p>
          <a:p>
            <a:pPr lvl="0"/>
            <a:endParaRPr lang="en-US" sz="1600" dirty="0"/>
          </a:p>
          <a:p>
            <a:r>
              <a:rPr lang="en-US" sz="1400" dirty="0"/>
              <a:t>Example</a:t>
            </a:r>
          </a:p>
          <a:p>
            <a:r>
              <a:rPr lang="en-US" sz="1400" dirty="0"/>
              <a:t>Customer paid $100, but later it was incorrect → CSR processes a refund.</a:t>
            </a:r>
          </a:p>
          <a:p>
            <a:r>
              <a:rPr lang="en-US" sz="1400" dirty="0"/>
              <a:t> Important rule:</a:t>
            </a:r>
            <a:br>
              <a:rPr lang="en-US" sz="1400" dirty="0"/>
            </a:br>
            <a:r>
              <a:rPr lang="en-US" sz="1400" dirty="0"/>
              <a:t>Refund can only be done after settlement.</a:t>
            </a:r>
          </a:p>
          <a:p>
            <a:endParaRPr lang="en-US" dirty="0"/>
          </a:p>
        </p:txBody>
      </p:sp>
    </p:spTree>
    <p:extLst>
      <p:ext uri="{BB962C8B-B14F-4D97-AF65-F5344CB8AC3E}">
        <p14:creationId xmlns:p14="http://schemas.microsoft.com/office/powerpoint/2010/main" val="376081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68AE8E-A7AD-48E6-C6BE-B54150175BC2}"/>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EDA9CAA3-AA88-5EBB-A1AB-3E72DAA16767}"/>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019D2CD5-278B-595F-1510-2CE95AE9A608}"/>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6B756985-79E9-B207-8C25-3566B06FD00B}"/>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3DBE1F1B-286B-BB5A-01BD-FB2429EA3B25}"/>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3CF7670C-D906-CC55-A121-A2E507D4E332}"/>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9AAF469E-35E8-A073-4327-21FAC0B665BD}"/>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656AF929-7923-7CF5-D5C7-A1B14616D914}"/>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A91C16DA-E503-D1D6-95EA-10D02D6B791F}"/>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40E2D1F6-2257-7833-9328-05935550CA09}"/>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1768C744-B152-2C22-36B2-9940A5CBDBF1}"/>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16</a:t>
            </a:fld>
            <a:endParaRPr spc="-50" dirty="0"/>
          </a:p>
        </p:txBody>
      </p:sp>
      <p:sp>
        <p:nvSpPr>
          <p:cNvPr id="13" name="TextBox 12">
            <a:extLst>
              <a:ext uri="{FF2B5EF4-FFF2-40B4-BE49-F238E27FC236}">
                <a16:creationId xmlns:a16="http://schemas.microsoft.com/office/drawing/2014/main" id="{5EC2E28F-003B-7D40-6959-2B7E8A3A8991}"/>
              </a:ext>
            </a:extLst>
          </p:cNvPr>
          <p:cNvSpPr txBox="1"/>
          <p:nvPr/>
        </p:nvSpPr>
        <p:spPr>
          <a:xfrm>
            <a:off x="929005" y="189939"/>
            <a:ext cx="7129145" cy="369332"/>
          </a:xfrm>
          <a:prstGeom prst="rect">
            <a:avLst/>
          </a:prstGeom>
          <a:noFill/>
        </p:spPr>
        <p:txBody>
          <a:bodyPr wrap="square" rtlCol="0">
            <a:spAutoFit/>
          </a:bodyPr>
          <a:lstStyle/>
          <a:p>
            <a:pPr algn="ctr"/>
            <a:r>
              <a:rPr lang="en-US" b="1" dirty="0"/>
              <a:t>Billing and Payments</a:t>
            </a:r>
          </a:p>
        </p:txBody>
      </p:sp>
      <p:sp>
        <p:nvSpPr>
          <p:cNvPr id="12" name="TextBox 11">
            <a:extLst>
              <a:ext uri="{FF2B5EF4-FFF2-40B4-BE49-F238E27FC236}">
                <a16:creationId xmlns:a16="http://schemas.microsoft.com/office/drawing/2014/main" id="{0631A3DA-6956-1630-F8C0-1321F12AC43F}"/>
              </a:ext>
            </a:extLst>
          </p:cNvPr>
          <p:cNvSpPr txBox="1"/>
          <p:nvPr/>
        </p:nvSpPr>
        <p:spPr>
          <a:xfrm>
            <a:off x="209550" y="657225"/>
            <a:ext cx="8610600" cy="4555093"/>
          </a:xfrm>
          <a:prstGeom prst="rect">
            <a:avLst/>
          </a:prstGeom>
          <a:noFill/>
        </p:spPr>
        <p:txBody>
          <a:bodyPr wrap="square" rtlCol="0">
            <a:spAutoFit/>
          </a:bodyPr>
          <a:lstStyle/>
          <a:p>
            <a:r>
              <a:rPr lang="en-US" sz="1600" b="1" dirty="0"/>
              <a:t>Payment Return - </a:t>
            </a:r>
            <a:r>
              <a:rPr lang="en-US" sz="1600" dirty="0"/>
              <a:t>occurs when a payment fails or is reversed by the bank or payment network.</a:t>
            </a:r>
          </a:p>
          <a:p>
            <a:endParaRPr lang="en-US" sz="1600" dirty="0"/>
          </a:p>
          <a:p>
            <a:r>
              <a:rPr lang="en-US" sz="1600" dirty="0"/>
              <a:t>Types of Payment Returns :</a:t>
            </a:r>
          </a:p>
          <a:p>
            <a:endParaRPr lang="en-US" sz="1600" dirty="0"/>
          </a:p>
          <a:p>
            <a:r>
              <a:rPr lang="en-US" sz="1600" b="1" dirty="0"/>
              <a:t>ECP Return </a:t>
            </a:r>
            <a:r>
              <a:rPr lang="en-US" sz="1600" dirty="0"/>
              <a:t>happens when a bank payment (ACH) is rejected by the customer’s bank due to insufficient funds , invalid bank account etc.</a:t>
            </a:r>
          </a:p>
          <a:p>
            <a:endParaRPr lang="en-US" sz="1600" dirty="0"/>
          </a:p>
          <a:p>
            <a:r>
              <a:rPr lang="en-US" sz="1600" b="1" dirty="0"/>
              <a:t>Chargeback </a:t>
            </a:r>
            <a:r>
              <a:rPr lang="en-US" sz="1600" dirty="0"/>
              <a:t>occurs when a customer disputes a card payment after it has been completed. Eg Customer contacts bank and says: “I didn’t do this payment”</a:t>
            </a:r>
          </a:p>
          <a:p>
            <a:endParaRPr lang="en-US" sz="1600" dirty="0"/>
          </a:p>
          <a:p>
            <a:r>
              <a:rPr lang="en-US" sz="1600" b="1" dirty="0"/>
              <a:t>Payment Decline</a:t>
            </a:r>
            <a:r>
              <a:rPr lang="en-US" sz="1600" dirty="0"/>
              <a:t>(during card payments) happens when the bank rejects the payment immediately during processing due to insufficient funds , wrong cvv , expired card .</a:t>
            </a:r>
          </a:p>
          <a:p>
            <a:endParaRPr lang="en-US" sz="1600" dirty="0"/>
          </a:p>
          <a:p>
            <a:r>
              <a:rPr lang="en-US" sz="1600" dirty="0">
                <a:solidFill>
                  <a:srgbClr val="FF0000"/>
                </a:solidFill>
              </a:rPr>
              <a:t>ACH</a:t>
            </a:r>
            <a:r>
              <a:rPr lang="en-US" sz="1600" dirty="0"/>
              <a:t> = (Automated Clearing House) The bank network that processes the payments</a:t>
            </a:r>
          </a:p>
          <a:p>
            <a:r>
              <a:rPr lang="en-US" sz="1600" dirty="0">
                <a:solidFill>
                  <a:srgbClr val="FF0000"/>
                </a:solidFill>
              </a:rPr>
              <a:t>ECP</a:t>
            </a:r>
            <a:r>
              <a:rPr lang="en-US" sz="1600" dirty="0"/>
              <a:t> = Electronic Check Payment</a:t>
            </a:r>
          </a:p>
          <a:p>
            <a:endParaRPr lang="en-US" sz="1600" dirty="0"/>
          </a:p>
          <a:p>
            <a:endParaRPr lang="en-US" sz="1600" dirty="0"/>
          </a:p>
        </p:txBody>
      </p:sp>
    </p:spTree>
    <p:extLst>
      <p:ext uri="{BB962C8B-B14F-4D97-AF65-F5344CB8AC3E}">
        <p14:creationId xmlns:p14="http://schemas.microsoft.com/office/powerpoint/2010/main" val="2275546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DF06F0-DE08-D67D-DD35-772296B4D5D6}"/>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473628D9-4A1C-1ECB-7474-1C1D587C5208}"/>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5620B9AE-942F-7AFA-D176-89747620E5F3}"/>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9C1CC620-2456-7F7A-682E-7FE085FEA7BF}"/>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6DD03F40-F38B-A8D7-C261-5287769C8DB2}"/>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5252ABCF-A5AD-1E79-61B5-A4AEC15F919B}"/>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5FAC3B5A-E74F-7398-BF74-615155445B08}"/>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10499990-3A4E-13C1-A692-F37BB64DE1F2}"/>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60577CDF-0BAB-7BF1-82CE-0D374C10E18C}"/>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98E9A2C2-8507-F451-FEB0-6786377F5627}"/>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169ACFF0-F0CB-8A46-B8A3-DE5715E2C961}"/>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17</a:t>
            </a:fld>
            <a:endParaRPr spc="-50" dirty="0"/>
          </a:p>
        </p:txBody>
      </p:sp>
      <p:sp>
        <p:nvSpPr>
          <p:cNvPr id="13" name="TextBox 12">
            <a:extLst>
              <a:ext uri="{FF2B5EF4-FFF2-40B4-BE49-F238E27FC236}">
                <a16:creationId xmlns:a16="http://schemas.microsoft.com/office/drawing/2014/main" id="{CFD3170B-3139-E2FE-F15C-CA1AE19D2FB1}"/>
              </a:ext>
            </a:extLst>
          </p:cNvPr>
          <p:cNvSpPr txBox="1"/>
          <p:nvPr/>
        </p:nvSpPr>
        <p:spPr>
          <a:xfrm>
            <a:off x="2419350" y="200025"/>
            <a:ext cx="4114800" cy="369332"/>
          </a:xfrm>
          <a:prstGeom prst="rect">
            <a:avLst/>
          </a:prstGeom>
          <a:noFill/>
        </p:spPr>
        <p:txBody>
          <a:bodyPr wrap="square" rtlCol="0">
            <a:spAutoFit/>
          </a:bodyPr>
          <a:lstStyle/>
          <a:p>
            <a:pPr algn="ctr"/>
            <a:r>
              <a:rPr lang="en-US" b="1" dirty="0"/>
              <a:t>Smart CX – Payments</a:t>
            </a:r>
          </a:p>
        </p:txBody>
      </p:sp>
      <p:sp>
        <p:nvSpPr>
          <p:cNvPr id="14" name="TextBox 13">
            <a:extLst>
              <a:ext uri="{FF2B5EF4-FFF2-40B4-BE49-F238E27FC236}">
                <a16:creationId xmlns:a16="http://schemas.microsoft.com/office/drawing/2014/main" id="{ED9DEFF8-87D6-2E8E-486D-987ED189B2E7}"/>
              </a:ext>
            </a:extLst>
          </p:cNvPr>
          <p:cNvSpPr txBox="1"/>
          <p:nvPr/>
        </p:nvSpPr>
        <p:spPr>
          <a:xfrm>
            <a:off x="3562350" y="733425"/>
            <a:ext cx="1752600" cy="369332"/>
          </a:xfrm>
          <a:prstGeom prst="rect">
            <a:avLst/>
          </a:prstGeom>
          <a:noFill/>
        </p:spPr>
        <p:txBody>
          <a:bodyPr wrap="square" rtlCol="0">
            <a:spAutoFit/>
          </a:bodyPr>
          <a:lstStyle/>
          <a:p>
            <a:r>
              <a:rPr lang="en-US" dirty="0"/>
              <a:t>     </a:t>
            </a:r>
            <a:r>
              <a:rPr lang="en-US" sz="1600" b="1" dirty="0"/>
              <a:t>Pre login </a:t>
            </a:r>
          </a:p>
        </p:txBody>
      </p:sp>
      <p:sp>
        <p:nvSpPr>
          <p:cNvPr id="15" name="TextBox 14">
            <a:extLst>
              <a:ext uri="{FF2B5EF4-FFF2-40B4-BE49-F238E27FC236}">
                <a16:creationId xmlns:a16="http://schemas.microsoft.com/office/drawing/2014/main" id="{964D22B2-E9A8-A959-A063-5D995DFFC2DA}"/>
              </a:ext>
            </a:extLst>
          </p:cNvPr>
          <p:cNvSpPr txBox="1"/>
          <p:nvPr/>
        </p:nvSpPr>
        <p:spPr>
          <a:xfrm>
            <a:off x="819150" y="1190625"/>
            <a:ext cx="7543800" cy="3447098"/>
          </a:xfrm>
          <a:prstGeom prst="rect">
            <a:avLst/>
          </a:prstGeom>
          <a:noFill/>
        </p:spPr>
        <p:txBody>
          <a:bodyPr wrap="square" rtlCol="0">
            <a:spAutoFit/>
          </a:bodyPr>
          <a:lstStyle/>
          <a:p>
            <a:pPr lvl="0"/>
            <a:r>
              <a:rPr lang="en-US" sz="1600" dirty="0"/>
              <a:t>The Payment Center has six Tabs :</a:t>
            </a:r>
          </a:p>
          <a:p>
            <a:pPr lvl="0"/>
            <a:br>
              <a:rPr lang="en-US" sz="1400" dirty="0"/>
            </a:br>
            <a:r>
              <a:rPr lang="en-US" sz="1600" b="1" dirty="0"/>
              <a:t>Pay Now </a:t>
            </a:r>
            <a:r>
              <a:rPr lang="en-US" sz="1600" dirty="0"/>
              <a:t>– user clicks on Make Payment option after that user can verify account via Account Number and Zip Code . </a:t>
            </a:r>
            <a:r>
              <a:rPr lang="en-US" sz="1600" dirty="0">
                <a:solidFill>
                  <a:srgbClr val="FF0000"/>
                </a:solidFill>
              </a:rPr>
              <a:t>(fig)</a:t>
            </a:r>
          </a:p>
          <a:p>
            <a:pPr lvl="0"/>
            <a:endParaRPr lang="en-US" sz="1400" dirty="0"/>
          </a:p>
          <a:p>
            <a:pPr lvl="0"/>
            <a:endParaRPr lang="en-US" sz="1400" dirty="0"/>
          </a:p>
          <a:p>
            <a:pPr lvl="0"/>
            <a:r>
              <a:rPr lang="en-US" sz="1600" b="1" dirty="0"/>
              <a:t>Pay By Phone </a:t>
            </a:r>
            <a:r>
              <a:rPr lang="en-US" sz="1600" dirty="0"/>
              <a:t>- Pay by Phone means paying your bill by calling a phone number instead of using the website. </a:t>
            </a:r>
          </a:p>
          <a:p>
            <a:pPr lvl="0"/>
            <a:endParaRPr lang="en-US" sz="1600" dirty="0"/>
          </a:p>
          <a:p>
            <a:pPr lvl="0"/>
            <a:endParaRPr lang="en-US" sz="1600" dirty="0"/>
          </a:p>
          <a:p>
            <a:pPr lvl="0"/>
            <a:r>
              <a:rPr lang="en-US" sz="1600" b="1" dirty="0"/>
              <a:t>Pay By Text </a:t>
            </a:r>
            <a:r>
              <a:rPr lang="en-US" sz="1600" dirty="0"/>
              <a:t>means enrolling in Text to Pay and  paying your bill using SMS (text messages) on your phone.</a:t>
            </a:r>
          </a:p>
          <a:p>
            <a:pPr lvl="0"/>
            <a:endParaRPr lang="en-US" sz="1400" dirty="0"/>
          </a:p>
          <a:p>
            <a:endParaRPr lang="en-US" dirty="0"/>
          </a:p>
        </p:txBody>
      </p:sp>
    </p:spTree>
    <p:extLst>
      <p:ext uri="{BB962C8B-B14F-4D97-AF65-F5344CB8AC3E}">
        <p14:creationId xmlns:p14="http://schemas.microsoft.com/office/powerpoint/2010/main" val="405707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A861416-15F4-0C16-8802-30BA2275BCFE}"/>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B1E4B654-2525-02F9-7DE2-38D05E656038}"/>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DA065E5D-228A-60CF-BF97-30B03C07711E}"/>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DF09BF10-AF5E-E131-F64F-FA7C77AC5E56}"/>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112711F1-0BD2-802A-6BDF-0FC9B7222670}"/>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E88EE7B5-D09B-71E7-8B70-9AA502B22F69}"/>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C3BC0111-3185-E573-103C-252D62F46D1D}"/>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0FF7CAF3-E474-1275-2972-76F40B9E58D9}"/>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DEE93A5F-A22A-0B08-5B9D-CBEBD92A75CD}"/>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0C58E5AD-40D1-D4DE-CBC2-404CFBE4C741}"/>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1F2780B2-6FCE-7464-E956-0C45008577B1}"/>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18</a:t>
            </a:fld>
            <a:endParaRPr spc="-50" dirty="0"/>
          </a:p>
        </p:txBody>
      </p:sp>
      <p:sp>
        <p:nvSpPr>
          <p:cNvPr id="12" name="TextBox 11">
            <a:extLst>
              <a:ext uri="{FF2B5EF4-FFF2-40B4-BE49-F238E27FC236}">
                <a16:creationId xmlns:a16="http://schemas.microsoft.com/office/drawing/2014/main" id="{FCCC0FD2-678F-E3B2-BC3D-DBEA3486F061}"/>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EB96D42A-37FD-14D4-0249-16CBC2291B95}"/>
              </a:ext>
            </a:extLst>
          </p:cNvPr>
          <p:cNvSpPr txBox="1"/>
          <p:nvPr/>
        </p:nvSpPr>
        <p:spPr>
          <a:xfrm>
            <a:off x="2419350" y="452104"/>
            <a:ext cx="4114800" cy="369332"/>
          </a:xfrm>
          <a:prstGeom prst="rect">
            <a:avLst/>
          </a:prstGeom>
          <a:noFill/>
        </p:spPr>
        <p:txBody>
          <a:bodyPr wrap="square" rtlCol="0">
            <a:spAutoFit/>
          </a:bodyPr>
          <a:lstStyle/>
          <a:p>
            <a:pPr algn="ctr"/>
            <a:r>
              <a:rPr lang="en-US" b="1" dirty="0"/>
              <a:t>Prelogin</a:t>
            </a:r>
          </a:p>
        </p:txBody>
      </p:sp>
      <p:sp>
        <p:nvSpPr>
          <p:cNvPr id="15" name="TextBox 14">
            <a:extLst>
              <a:ext uri="{FF2B5EF4-FFF2-40B4-BE49-F238E27FC236}">
                <a16:creationId xmlns:a16="http://schemas.microsoft.com/office/drawing/2014/main" id="{12D1B814-F7E6-20B7-9D6C-5B33454B6642}"/>
              </a:ext>
            </a:extLst>
          </p:cNvPr>
          <p:cNvSpPr txBox="1"/>
          <p:nvPr/>
        </p:nvSpPr>
        <p:spPr>
          <a:xfrm>
            <a:off x="495300" y="1038225"/>
            <a:ext cx="8153400" cy="3539430"/>
          </a:xfrm>
          <a:prstGeom prst="rect">
            <a:avLst/>
          </a:prstGeom>
          <a:noFill/>
        </p:spPr>
        <p:txBody>
          <a:bodyPr wrap="square" rtlCol="0">
            <a:spAutoFit/>
          </a:bodyPr>
          <a:lstStyle/>
          <a:p>
            <a:endParaRPr lang="en-US" sz="1400" b="1" dirty="0"/>
          </a:p>
          <a:p>
            <a:r>
              <a:rPr lang="en-US" sz="1400" b="1" dirty="0"/>
              <a:t>Auto Pay </a:t>
            </a:r>
            <a:r>
              <a:rPr lang="en-US" sz="1400" dirty="0"/>
              <a:t>(Automatic Recurring Payments) means the bill is paid automatically every month without you doing anything.</a:t>
            </a:r>
          </a:p>
          <a:p>
            <a:endParaRPr lang="en-US" sz="1400" dirty="0"/>
          </a:p>
          <a:p>
            <a:endParaRPr lang="en-US" sz="1400" dirty="0"/>
          </a:p>
          <a:p>
            <a:endParaRPr lang="en-US" sz="1400" dirty="0"/>
          </a:p>
          <a:p>
            <a:r>
              <a:rPr lang="en-US" sz="1600" b="1" dirty="0"/>
              <a:t>Pay in Person </a:t>
            </a:r>
            <a:r>
              <a:rPr lang="en-US" sz="1600" dirty="0"/>
              <a:t>means the user can go to a physical location and pay the bill there instead of paying online.</a:t>
            </a:r>
            <a:br>
              <a:rPr lang="en-US" sz="1600" dirty="0"/>
            </a:br>
            <a:endParaRPr lang="en-US" sz="1600" dirty="0"/>
          </a:p>
          <a:p>
            <a:endParaRPr lang="en-US" sz="1600" dirty="0"/>
          </a:p>
          <a:p>
            <a:endParaRPr lang="en-US" sz="1600" dirty="0"/>
          </a:p>
          <a:p>
            <a:r>
              <a:rPr lang="en-US" sz="1600" b="1" dirty="0"/>
              <a:t>Pay by Cash </a:t>
            </a:r>
            <a:r>
              <a:rPr lang="en-US" sz="1600" dirty="0"/>
              <a:t>feature means you can pay your bill using cash at a physical store, but first you generate a barcode from the website .</a:t>
            </a:r>
          </a:p>
          <a:p>
            <a:endParaRPr lang="en-US" sz="1400" dirty="0"/>
          </a:p>
          <a:p>
            <a:endParaRPr lang="en-US" sz="1400" dirty="0"/>
          </a:p>
        </p:txBody>
      </p:sp>
    </p:spTree>
    <p:extLst>
      <p:ext uri="{BB962C8B-B14F-4D97-AF65-F5344CB8AC3E}">
        <p14:creationId xmlns:p14="http://schemas.microsoft.com/office/powerpoint/2010/main" val="3778767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13C3B33-7CC9-9610-EDC7-E2FFBD92D1B6}"/>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D602B7E-617D-124F-9429-E009BA95469E}"/>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99B8406F-2012-1497-C5BE-CEE5612E7408}"/>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91FE3272-9CE9-A83E-BC77-042F300C0BF0}"/>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C9AF929D-68B2-4C74-8D99-D20AC76CD683}"/>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49B884C5-B069-2B24-0ADF-2A8EB949A5D9}"/>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20648859-7713-EBBF-193D-9FEAA0B813B0}"/>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2D96B057-535C-E822-8F7E-42A9B686445D}"/>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6872ED14-F072-9318-7041-4AF9D4F5E5D2}"/>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21EEFC7D-A6F4-BE26-7FE6-141A84967444}"/>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C8F212ED-1DA7-A107-AE45-D06BE414D797}"/>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19</a:t>
            </a:fld>
            <a:endParaRPr spc="-50" dirty="0"/>
          </a:p>
        </p:txBody>
      </p:sp>
      <p:sp>
        <p:nvSpPr>
          <p:cNvPr id="12" name="TextBox 11">
            <a:extLst>
              <a:ext uri="{FF2B5EF4-FFF2-40B4-BE49-F238E27FC236}">
                <a16:creationId xmlns:a16="http://schemas.microsoft.com/office/drawing/2014/main" id="{6FD30619-25F7-04BA-752E-1A8DE790EA2D}"/>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C0DF9F24-5E76-C7F7-71AF-2353E7961CC9}"/>
              </a:ext>
            </a:extLst>
          </p:cNvPr>
          <p:cNvSpPr txBox="1"/>
          <p:nvPr/>
        </p:nvSpPr>
        <p:spPr>
          <a:xfrm>
            <a:off x="2419350" y="200025"/>
            <a:ext cx="4114800" cy="369332"/>
          </a:xfrm>
          <a:prstGeom prst="rect">
            <a:avLst/>
          </a:prstGeom>
          <a:noFill/>
        </p:spPr>
        <p:txBody>
          <a:bodyPr wrap="square" rtlCol="0">
            <a:spAutoFit/>
          </a:bodyPr>
          <a:lstStyle/>
          <a:p>
            <a:pPr algn="ctr"/>
            <a:r>
              <a:rPr lang="en-US" b="1" dirty="0"/>
              <a:t>AiElectron BX</a:t>
            </a:r>
          </a:p>
        </p:txBody>
      </p:sp>
      <p:sp>
        <p:nvSpPr>
          <p:cNvPr id="14" name="TextBox 13">
            <a:extLst>
              <a:ext uri="{FF2B5EF4-FFF2-40B4-BE49-F238E27FC236}">
                <a16:creationId xmlns:a16="http://schemas.microsoft.com/office/drawing/2014/main" id="{025BB456-E8DB-2285-08C3-EB3069512E18}"/>
              </a:ext>
            </a:extLst>
          </p:cNvPr>
          <p:cNvSpPr txBox="1"/>
          <p:nvPr/>
        </p:nvSpPr>
        <p:spPr>
          <a:xfrm>
            <a:off x="361950" y="733425"/>
            <a:ext cx="8534400" cy="4062651"/>
          </a:xfrm>
          <a:prstGeom prst="rect">
            <a:avLst/>
          </a:prstGeom>
          <a:noFill/>
        </p:spPr>
        <p:txBody>
          <a:bodyPr wrap="square" rtlCol="0">
            <a:spAutoFit/>
          </a:bodyPr>
          <a:lstStyle/>
          <a:p>
            <a:r>
              <a:rPr lang="en-US" sz="1600" b="1" dirty="0"/>
              <a:t>Payment Dashboard </a:t>
            </a:r>
            <a:r>
              <a:rPr lang="en-US" sz="1600" dirty="0"/>
              <a:t>has a component that shows a single chart for all the various types of payments done to the utility. The fields covered in this chart: </a:t>
            </a:r>
            <a:r>
              <a:rPr lang="en-US" sz="1600" dirty="0">
                <a:solidFill>
                  <a:srgbClr val="FF0000"/>
                </a:solidFill>
              </a:rPr>
              <a:t>(fig)</a:t>
            </a:r>
          </a:p>
          <a:p>
            <a:endParaRPr lang="en-US" sz="1600" dirty="0"/>
          </a:p>
          <a:p>
            <a:pPr lvl="0"/>
            <a:r>
              <a:rPr lang="en-US" sz="1600" dirty="0"/>
              <a:t>Total Transactions</a:t>
            </a:r>
          </a:p>
          <a:p>
            <a:pPr lvl="0"/>
            <a:r>
              <a:rPr lang="en-US" sz="1600" dirty="0"/>
              <a:t>ACH</a:t>
            </a:r>
          </a:p>
          <a:p>
            <a:pPr lvl="0"/>
            <a:r>
              <a:rPr lang="en-US" sz="1600" dirty="0"/>
              <a:t>Credit/Debit Card</a:t>
            </a:r>
          </a:p>
          <a:p>
            <a:pPr lvl="0"/>
            <a:r>
              <a:rPr lang="en-US" sz="1600" dirty="0"/>
              <a:t>Failed Transaction</a:t>
            </a:r>
          </a:p>
          <a:p>
            <a:pPr lvl="0"/>
            <a:endParaRPr lang="en-US" sz="1600" dirty="0"/>
          </a:p>
          <a:p>
            <a:r>
              <a:rPr lang="en-US" sz="1600" dirty="0"/>
              <a:t>There are pie charts to demonstrate the breakups between the following:</a:t>
            </a:r>
          </a:p>
          <a:p>
            <a:pPr lvl="0"/>
            <a:r>
              <a:rPr lang="en-US" sz="1600" dirty="0"/>
              <a:t>Pre/Post Login</a:t>
            </a:r>
          </a:p>
          <a:p>
            <a:pPr lvl="0"/>
            <a:r>
              <a:rPr lang="en-US" sz="1600" dirty="0"/>
              <a:t>Payment Source- Web/Mobile</a:t>
            </a:r>
          </a:p>
          <a:p>
            <a:pPr lvl="0"/>
            <a:r>
              <a:rPr lang="en-US" sz="1600" dirty="0"/>
              <a:t>Credit/Debit Card/ACH</a:t>
            </a:r>
          </a:p>
          <a:p>
            <a:pPr lvl="0"/>
            <a:endParaRPr lang="en-US" sz="1600" dirty="0"/>
          </a:p>
          <a:p>
            <a:r>
              <a:rPr lang="en-US" sz="1600" dirty="0"/>
              <a:t>A bar graph for the following types of transactions out of the total transactions is also present : Refunded ,Pending ,Declined ,Error , Successful</a:t>
            </a:r>
          </a:p>
          <a:p>
            <a:endParaRPr lang="en-US" dirty="0"/>
          </a:p>
        </p:txBody>
      </p:sp>
    </p:spTree>
    <p:extLst>
      <p:ext uri="{BB962C8B-B14F-4D97-AF65-F5344CB8AC3E}">
        <p14:creationId xmlns:p14="http://schemas.microsoft.com/office/powerpoint/2010/main" val="3081541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8FCA21F-1F46-6E3C-36C4-0EFE6CD7C4C4}"/>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BA00E561-2637-303D-F5BD-2C9351F4E66A}"/>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AF42533F-8E6A-0CEA-D5F9-57F6AC152AED}"/>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9AD1A108-B17E-EB18-5F88-496B8F66F166}"/>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01CD750D-FC51-6B97-90FA-D30653018526}"/>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6F100B1E-9174-4DB7-48AB-3F1B052DB6B4}"/>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0F4C5C5D-6810-27BC-ADE9-3118A1A12E04}"/>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C6BE31CF-B889-FD35-4068-591C4163A05E}"/>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9AA5EB4A-0CF2-ADBB-F4CF-6DC0B35227A4}"/>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18E6F3F0-0E07-9703-905B-F4A1D4AA45D7}"/>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86657E24-297A-E9C1-BDE7-C14F5D0ECBE4}"/>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20</a:t>
            </a:fld>
            <a:endParaRPr spc="-50" dirty="0"/>
          </a:p>
        </p:txBody>
      </p:sp>
      <p:sp>
        <p:nvSpPr>
          <p:cNvPr id="12" name="TextBox 11">
            <a:extLst>
              <a:ext uri="{FF2B5EF4-FFF2-40B4-BE49-F238E27FC236}">
                <a16:creationId xmlns:a16="http://schemas.microsoft.com/office/drawing/2014/main" id="{49DB8A92-A1A1-7264-31EB-4D59CAEACBAF}"/>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45D03862-E6DA-A616-82AA-4934A21D1E21}"/>
              </a:ext>
            </a:extLst>
          </p:cNvPr>
          <p:cNvSpPr txBox="1"/>
          <p:nvPr/>
        </p:nvSpPr>
        <p:spPr>
          <a:xfrm>
            <a:off x="2419350" y="200025"/>
            <a:ext cx="4114800" cy="369332"/>
          </a:xfrm>
          <a:prstGeom prst="rect">
            <a:avLst/>
          </a:prstGeom>
          <a:noFill/>
        </p:spPr>
        <p:txBody>
          <a:bodyPr wrap="square" rtlCol="0">
            <a:spAutoFit/>
          </a:bodyPr>
          <a:lstStyle/>
          <a:p>
            <a:pPr algn="ctr"/>
            <a:r>
              <a:rPr lang="en-US" b="1" dirty="0"/>
              <a:t>AiElectron BX</a:t>
            </a:r>
          </a:p>
        </p:txBody>
      </p:sp>
      <p:sp>
        <p:nvSpPr>
          <p:cNvPr id="14" name="TextBox 13">
            <a:extLst>
              <a:ext uri="{FF2B5EF4-FFF2-40B4-BE49-F238E27FC236}">
                <a16:creationId xmlns:a16="http://schemas.microsoft.com/office/drawing/2014/main" id="{2C0BCED4-4DBB-D006-EE21-84E627036D06}"/>
              </a:ext>
            </a:extLst>
          </p:cNvPr>
          <p:cNvSpPr txBox="1"/>
          <p:nvPr/>
        </p:nvSpPr>
        <p:spPr>
          <a:xfrm>
            <a:off x="235611" y="1315224"/>
            <a:ext cx="4367477" cy="2831544"/>
          </a:xfrm>
          <a:prstGeom prst="rect">
            <a:avLst/>
          </a:prstGeom>
          <a:noFill/>
        </p:spPr>
        <p:txBody>
          <a:bodyPr wrap="square" rtlCol="0">
            <a:spAutoFit/>
          </a:bodyPr>
          <a:lstStyle/>
          <a:p>
            <a:r>
              <a:rPr lang="en-US" sz="1600" b="1" dirty="0"/>
              <a:t>Payment Report </a:t>
            </a:r>
            <a:r>
              <a:rPr lang="en-US" sz="1600" dirty="0"/>
              <a:t>is a dashboard in SmartBX (admin portal) where the utility team can view and manage all payment transactions. </a:t>
            </a:r>
            <a:r>
              <a:rPr lang="en-US" sz="1600" dirty="0">
                <a:solidFill>
                  <a:srgbClr val="FF0000"/>
                </a:solidFill>
              </a:rPr>
              <a:t>(fig)</a:t>
            </a:r>
          </a:p>
          <a:p>
            <a:endParaRPr lang="en-US" sz="1600" dirty="0"/>
          </a:p>
          <a:p>
            <a:r>
              <a:rPr lang="en-US" sz="1600" dirty="0"/>
              <a:t>It shows payments coming from </a:t>
            </a:r>
            <a:r>
              <a:rPr lang="en-US" sz="1600" b="1" dirty="0"/>
              <a:t>all payment channels</a:t>
            </a:r>
            <a:r>
              <a:rPr lang="en-US" sz="1600" dirty="0"/>
              <a:t> like web , app , text to pay , ivr , pos , external payments .</a:t>
            </a:r>
          </a:p>
          <a:p>
            <a:endParaRPr lang="en-US" sz="1600" dirty="0"/>
          </a:p>
          <a:p>
            <a:r>
              <a:rPr lang="en-US" sz="1600" dirty="0"/>
              <a:t>CSR/Admin can perform : Void and Refund .</a:t>
            </a:r>
          </a:p>
          <a:p>
            <a:endParaRPr lang="en-US" sz="1600" dirty="0"/>
          </a:p>
          <a:p>
            <a:endParaRPr lang="en-US" dirty="0"/>
          </a:p>
        </p:txBody>
      </p:sp>
      <p:pic>
        <p:nvPicPr>
          <p:cNvPr id="20" name="Picture 19">
            <a:extLst>
              <a:ext uri="{FF2B5EF4-FFF2-40B4-BE49-F238E27FC236}">
                <a16:creationId xmlns:a16="http://schemas.microsoft.com/office/drawing/2014/main" id="{CFFDE99C-35A7-4D93-7B82-37CD555D386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03088" y="1166564"/>
            <a:ext cx="4367477" cy="2629834"/>
          </a:xfrm>
          <a:prstGeom prst="rect">
            <a:avLst/>
          </a:prstGeom>
        </p:spPr>
      </p:pic>
    </p:spTree>
    <p:extLst>
      <p:ext uri="{BB962C8B-B14F-4D97-AF65-F5344CB8AC3E}">
        <p14:creationId xmlns:p14="http://schemas.microsoft.com/office/powerpoint/2010/main" val="4202326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791D734-9BF4-9B67-0F38-5DDD29B23F6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D2ADFA0F-BB4C-55E3-1EB7-127EC5E209B5}"/>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34D1EADA-CB25-B148-0C7D-D22027B00B45}"/>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3AD8415A-3AE1-6305-7D2A-23F9EA090310}"/>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2AF582DA-A09A-640E-1181-4A2E9B49E204}"/>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AEDB29CD-2E09-D11F-2AC6-385F0A70F953}"/>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A26546DC-2DCB-E47A-465E-399F8823D06D}"/>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09188B9C-1B53-D97C-1793-097E52026BCF}"/>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1D457DE9-2280-A955-AAEE-1F916AAC83DA}"/>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E6F63595-B0D6-0C7A-BC65-30B89A0C86B0}"/>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CD7CE6AB-D543-1C92-65EC-E655F19576C9}"/>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21</a:t>
            </a:fld>
            <a:endParaRPr spc="-50" dirty="0"/>
          </a:p>
        </p:txBody>
      </p:sp>
      <p:sp>
        <p:nvSpPr>
          <p:cNvPr id="12" name="TextBox 11">
            <a:extLst>
              <a:ext uri="{FF2B5EF4-FFF2-40B4-BE49-F238E27FC236}">
                <a16:creationId xmlns:a16="http://schemas.microsoft.com/office/drawing/2014/main" id="{148C8ECA-EB6B-636B-9A0F-9E0E2F2FEA97}"/>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4FE42D8F-1C4B-57E3-215F-C70F0C8E6F56}"/>
              </a:ext>
            </a:extLst>
          </p:cNvPr>
          <p:cNvSpPr txBox="1"/>
          <p:nvPr/>
        </p:nvSpPr>
        <p:spPr>
          <a:xfrm>
            <a:off x="2419350" y="200025"/>
            <a:ext cx="4114800" cy="369332"/>
          </a:xfrm>
          <a:prstGeom prst="rect">
            <a:avLst/>
          </a:prstGeom>
          <a:noFill/>
        </p:spPr>
        <p:txBody>
          <a:bodyPr wrap="square" rtlCol="0">
            <a:spAutoFit/>
          </a:bodyPr>
          <a:lstStyle/>
          <a:p>
            <a:pPr algn="ctr"/>
            <a:r>
              <a:rPr lang="en-US" b="1" dirty="0"/>
              <a:t>AiElectron BX</a:t>
            </a:r>
          </a:p>
        </p:txBody>
      </p:sp>
      <p:sp>
        <p:nvSpPr>
          <p:cNvPr id="16" name="TextBox 15">
            <a:extLst>
              <a:ext uri="{FF2B5EF4-FFF2-40B4-BE49-F238E27FC236}">
                <a16:creationId xmlns:a16="http://schemas.microsoft.com/office/drawing/2014/main" id="{5F82A525-2FB3-A7C5-232A-DDA47477BE26}"/>
              </a:ext>
            </a:extLst>
          </p:cNvPr>
          <p:cNvSpPr txBox="1"/>
          <p:nvPr/>
        </p:nvSpPr>
        <p:spPr>
          <a:xfrm>
            <a:off x="285750" y="657225"/>
            <a:ext cx="8610600" cy="3785652"/>
          </a:xfrm>
          <a:prstGeom prst="rect">
            <a:avLst/>
          </a:prstGeom>
          <a:noFill/>
        </p:spPr>
        <p:txBody>
          <a:bodyPr wrap="square" rtlCol="0">
            <a:spAutoFit/>
          </a:bodyPr>
          <a:lstStyle/>
          <a:p>
            <a:r>
              <a:rPr lang="en-US" sz="1600" b="1" dirty="0"/>
              <a:t>Deposit Detail Report</a:t>
            </a:r>
            <a:r>
              <a:rPr lang="en-US" sz="1600" dirty="0"/>
              <a:t> shows the funds deposited to the utility (merchant) each day and also includes refund transactions. </a:t>
            </a:r>
            <a:r>
              <a:rPr lang="en-US" sz="1600" dirty="0">
                <a:solidFill>
                  <a:srgbClr val="FF0000"/>
                </a:solidFill>
              </a:rPr>
              <a:t>(fig)</a:t>
            </a:r>
          </a:p>
          <a:p>
            <a:endParaRPr lang="en-US" sz="1600" dirty="0"/>
          </a:p>
          <a:p>
            <a:r>
              <a:rPr lang="en-US" sz="1600" dirty="0"/>
              <a:t>Deposit Summary</a:t>
            </a:r>
            <a:br>
              <a:rPr lang="en-US" sz="1600" dirty="0"/>
            </a:br>
            <a:r>
              <a:rPr lang="en-US" sz="1600" dirty="0"/>
              <a:t>This section shows aggregated deposit information, grouped by:</a:t>
            </a:r>
          </a:p>
          <a:p>
            <a:pPr lvl="0"/>
            <a:r>
              <a:rPr lang="en-US" sz="1600" dirty="0"/>
              <a:t>Payment Type</a:t>
            </a:r>
          </a:p>
          <a:p>
            <a:pPr lvl="0"/>
            <a:r>
              <a:rPr lang="en-US" sz="1600" dirty="0"/>
              <a:t>Payment Subtype (Card type)</a:t>
            </a:r>
          </a:p>
          <a:p>
            <a:pPr lvl="0"/>
            <a:endParaRPr lang="en-US" sz="1600" dirty="0"/>
          </a:p>
          <a:p>
            <a:pPr lvl="0"/>
            <a:r>
              <a:rPr lang="en-US" sz="1600" dirty="0"/>
              <a:t>Deposit Detail</a:t>
            </a:r>
            <a:br>
              <a:rPr lang="en-US" sz="1600" dirty="0"/>
            </a:br>
            <a:r>
              <a:rPr lang="en-US" sz="1600" dirty="0"/>
              <a:t>This section shows individual transaction records included in the deposit</a:t>
            </a:r>
          </a:p>
          <a:p>
            <a:pPr lvl="0"/>
            <a:endParaRPr lang="en-US" sz="1600" dirty="0"/>
          </a:p>
          <a:p>
            <a:pPr lvl="0"/>
            <a:r>
              <a:rPr lang="en-US" sz="1600" b="1" dirty="0"/>
              <a:t>Chargeback Report </a:t>
            </a:r>
            <a:r>
              <a:rPr lang="en-US" sz="1600" dirty="0"/>
              <a:t>shows all credit card chargebacks initiated by customers.</a:t>
            </a:r>
          </a:p>
          <a:p>
            <a:pPr lvl="0"/>
            <a:endParaRPr lang="en-US" sz="1600" dirty="0"/>
          </a:p>
          <a:p>
            <a:pPr lvl="0"/>
            <a:r>
              <a:rPr lang="en-US" sz="1600" b="1" dirty="0"/>
              <a:t>ECP Return Report</a:t>
            </a:r>
            <a:r>
              <a:rPr lang="en-US" sz="1600" dirty="0"/>
              <a:t> shows bank payment returns (ACH/ECP returns). </a:t>
            </a:r>
            <a:r>
              <a:rPr lang="en-US" sz="1600" dirty="0">
                <a:solidFill>
                  <a:srgbClr val="FF0000"/>
                </a:solidFill>
              </a:rPr>
              <a:t>(fig)</a:t>
            </a:r>
          </a:p>
          <a:p>
            <a:endParaRPr lang="en-US" sz="1600" dirty="0"/>
          </a:p>
        </p:txBody>
      </p:sp>
    </p:spTree>
    <p:extLst>
      <p:ext uri="{BB962C8B-B14F-4D97-AF65-F5344CB8AC3E}">
        <p14:creationId xmlns:p14="http://schemas.microsoft.com/office/powerpoint/2010/main" val="2911071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DB9011-40E3-D605-A500-4C5A70B2CA4E}"/>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05989A6-6A8E-CC63-09F2-FD61E9B1F14C}"/>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7F8167B9-A6DC-A886-5C4E-EE0D5BC55BA6}"/>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29B7DA5F-D91D-1A9F-4315-079DAF6EFC54}"/>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095EE62B-3E2E-CA1D-651B-0616AA036A70}"/>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412B57C5-56EF-7838-015A-6D270D61B043}"/>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0BC1B07B-96FB-705A-A221-51E8736A4773}"/>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48D7C773-5CA7-411A-9AC0-0F5D28EACF62}"/>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59230097-AE6D-7AA1-C96F-A95485148482}"/>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2991DC23-757B-C966-23B0-A123537B0082}"/>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D88EEBC7-1B5D-C454-2040-6609203B3693}"/>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22</a:t>
            </a:fld>
            <a:endParaRPr spc="-50" dirty="0"/>
          </a:p>
        </p:txBody>
      </p:sp>
      <p:sp>
        <p:nvSpPr>
          <p:cNvPr id="12" name="TextBox 11">
            <a:extLst>
              <a:ext uri="{FF2B5EF4-FFF2-40B4-BE49-F238E27FC236}">
                <a16:creationId xmlns:a16="http://schemas.microsoft.com/office/drawing/2014/main" id="{BD596BF2-39ED-E176-0728-18882206E75F}"/>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6112F3EE-7707-A59F-3915-3D9F9970D7D5}"/>
              </a:ext>
            </a:extLst>
          </p:cNvPr>
          <p:cNvSpPr txBox="1"/>
          <p:nvPr/>
        </p:nvSpPr>
        <p:spPr>
          <a:xfrm>
            <a:off x="2419350" y="200025"/>
            <a:ext cx="4114800" cy="369332"/>
          </a:xfrm>
          <a:prstGeom prst="rect">
            <a:avLst/>
          </a:prstGeom>
          <a:noFill/>
        </p:spPr>
        <p:txBody>
          <a:bodyPr wrap="square" rtlCol="0">
            <a:spAutoFit/>
          </a:bodyPr>
          <a:lstStyle/>
          <a:p>
            <a:pPr algn="ctr"/>
            <a:r>
              <a:rPr lang="en-US" b="1" dirty="0"/>
              <a:t>AiElectron BX</a:t>
            </a:r>
          </a:p>
        </p:txBody>
      </p:sp>
      <p:sp>
        <p:nvSpPr>
          <p:cNvPr id="14" name="TextBox 13">
            <a:extLst>
              <a:ext uri="{FF2B5EF4-FFF2-40B4-BE49-F238E27FC236}">
                <a16:creationId xmlns:a16="http://schemas.microsoft.com/office/drawing/2014/main" id="{77113B69-A7FE-60D7-BE2D-747C2998050C}"/>
              </a:ext>
            </a:extLst>
          </p:cNvPr>
          <p:cNvSpPr txBox="1"/>
          <p:nvPr/>
        </p:nvSpPr>
        <p:spPr>
          <a:xfrm>
            <a:off x="337873" y="929185"/>
            <a:ext cx="8534400" cy="4431983"/>
          </a:xfrm>
          <a:prstGeom prst="rect">
            <a:avLst/>
          </a:prstGeom>
          <a:noFill/>
        </p:spPr>
        <p:txBody>
          <a:bodyPr wrap="square" rtlCol="0">
            <a:spAutoFit/>
          </a:bodyPr>
          <a:lstStyle/>
          <a:p>
            <a:r>
              <a:rPr lang="en-US" sz="1600" b="1" dirty="0"/>
              <a:t>Payment status </a:t>
            </a:r>
            <a:r>
              <a:rPr lang="en-US" sz="1600" dirty="0"/>
              <a:t>shows the current state of a transaction after it is processed by the payment gateway (Braintree or Chase).</a:t>
            </a:r>
          </a:p>
          <a:p>
            <a:endParaRPr lang="en-US" sz="1600" dirty="0"/>
          </a:p>
          <a:p>
            <a:r>
              <a:rPr lang="en-US" sz="1600" dirty="0"/>
              <a:t>Success - Payment was authorized and processed successfully.</a:t>
            </a:r>
          </a:p>
          <a:p>
            <a:r>
              <a:rPr lang="en-US" sz="1600" dirty="0"/>
              <a:t>Pending - Payment is still being processed by the gateway or bank.</a:t>
            </a:r>
          </a:p>
          <a:p>
            <a:r>
              <a:rPr lang="en-US" sz="1600" dirty="0"/>
              <a:t>Declined / Failed - Payment was rejected by the bank or gateway.</a:t>
            </a:r>
          </a:p>
          <a:p>
            <a:r>
              <a:rPr lang="en-US" sz="1600" dirty="0"/>
              <a:t>Voided - Payment was cancelled before settlement.</a:t>
            </a:r>
          </a:p>
          <a:p>
            <a:r>
              <a:rPr lang="en-US" sz="1600" dirty="0"/>
              <a:t>Refunded - Money was returned to the customer after settlement.</a:t>
            </a:r>
          </a:p>
          <a:p>
            <a:r>
              <a:rPr lang="en-US" sz="1600" dirty="0"/>
              <a:t>P-Refund – Partial Refund</a:t>
            </a:r>
          </a:p>
          <a:p>
            <a:r>
              <a:rPr lang="en-US" sz="1600" dirty="0"/>
              <a:t>ECP Return - Bank payment (ACH) was later rejected by the bank.</a:t>
            </a:r>
          </a:p>
          <a:p>
            <a:r>
              <a:rPr lang="en-US" sz="1600" dirty="0"/>
              <a:t>Chargeback / Dispute - Customer disputes a completed card transaction with the bank.</a:t>
            </a:r>
          </a:p>
          <a:p>
            <a:r>
              <a:rPr lang="en-US" sz="1600" dirty="0"/>
              <a:t>Error = Payment failed due to a technical/system issue .</a:t>
            </a:r>
          </a:p>
          <a:p>
            <a:endParaRPr lang="en-US" sz="1800" dirty="0"/>
          </a:p>
          <a:p>
            <a:endParaRPr lang="en-US" sz="1800" dirty="0"/>
          </a:p>
          <a:p>
            <a:endParaRPr lang="en-US" sz="1800" dirty="0"/>
          </a:p>
          <a:p>
            <a:endParaRPr lang="en-US" sz="1600" dirty="0"/>
          </a:p>
          <a:p>
            <a:endParaRPr lang="en-US" dirty="0"/>
          </a:p>
        </p:txBody>
      </p:sp>
    </p:spTree>
    <p:extLst>
      <p:ext uri="{BB962C8B-B14F-4D97-AF65-F5344CB8AC3E}">
        <p14:creationId xmlns:p14="http://schemas.microsoft.com/office/powerpoint/2010/main" val="3866116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38849D7-C2C5-2C3C-5C6D-D9AADFCD37B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23909CC0-921C-A2E8-C355-1692F5384EEB}"/>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D2547335-2FA4-5171-DF9A-C2A08686BD20}"/>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B3D47844-F4DE-63CD-48A9-8668BEBDE8DB}"/>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978E43A7-930F-193C-C003-30B0D31B3661}"/>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75783AE9-877D-6581-0FC1-C6E684586C32}"/>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99EB0A6E-A29B-B786-7CB3-46819300F4CC}"/>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90451EA0-CFDB-FDF4-9232-E4C8A89A6494}"/>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FAB48415-A23C-FBB3-F8B4-A887FE1C4186}"/>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0D78CBD5-59DB-998B-2233-724ED722F722}"/>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354B3CA5-B1FA-31D7-CF38-16A9ACF2E982}"/>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23</a:t>
            </a:fld>
            <a:endParaRPr spc="-50" dirty="0"/>
          </a:p>
        </p:txBody>
      </p:sp>
      <p:sp>
        <p:nvSpPr>
          <p:cNvPr id="12" name="TextBox 11">
            <a:extLst>
              <a:ext uri="{FF2B5EF4-FFF2-40B4-BE49-F238E27FC236}">
                <a16:creationId xmlns:a16="http://schemas.microsoft.com/office/drawing/2014/main" id="{1FE874C5-4149-A22E-876A-686306419849}"/>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714DDC66-34CA-9E58-8071-7855F368EE7A}"/>
              </a:ext>
            </a:extLst>
          </p:cNvPr>
          <p:cNvSpPr txBox="1"/>
          <p:nvPr/>
        </p:nvSpPr>
        <p:spPr>
          <a:xfrm>
            <a:off x="2419350" y="200025"/>
            <a:ext cx="4114800" cy="369332"/>
          </a:xfrm>
          <a:prstGeom prst="rect">
            <a:avLst/>
          </a:prstGeom>
          <a:noFill/>
        </p:spPr>
        <p:txBody>
          <a:bodyPr wrap="square" rtlCol="0">
            <a:spAutoFit/>
          </a:bodyPr>
          <a:lstStyle/>
          <a:p>
            <a:pPr algn="ctr"/>
            <a:r>
              <a:rPr lang="en-US" b="1" dirty="0"/>
              <a:t>AiElectron BX</a:t>
            </a:r>
          </a:p>
        </p:txBody>
      </p:sp>
      <p:sp>
        <p:nvSpPr>
          <p:cNvPr id="15" name="TextBox 14">
            <a:extLst>
              <a:ext uri="{FF2B5EF4-FFF2-40B4-BE49-F238E27FC236}">
                <a16:creationId xmlns:a16="http://schemas.microsoft.com/office/drawing/2014/main" id="{DAC2E255-79D7-077A-A6FC-55B1ED86CF2A}"/>
              </a:ext>
            </a:extLst>
          </p:cNvPr>
          <p:cNvSpPr txBox="1"/>
          <p:nvPr/>
        </p:nvSpPr>
        <p:spPr>
          <a:xfrm>
            <a:off x="337873" y="733425"/>
            <a:ext cx="8426143" cy="5539978"/>
          </a:xfrm>
          <a:prstGeom prst="rect">
            <a:avLst/>
          </a:prstGeom>
          <a:noFill/>
        </p:spPr>
        <p:txBody>
          <a:bodyPr wrap="square" rtlCol="0">
            <a:spAutoFit/>
          </a:bodyPr>
          <a:lstStyle/>
          <a:p>
            <a:r>
              <a:rPr lang="en-US" sz="1600" b="1" dirty="0"/>
              <a:t>Transfer Summary </a:t>
            </a:r>
            <a:r>
              <a:rPr lang="en-US" sz="1600" dirty="0"/>
              <a:t>is a report that shows the money transferred (deposited) to the utility’s bank account each day. </a:t>
            </a:r>
            <a:r>
              <a:rPr lang="en-US" sz="1600" dirty="0">
                <a:solidFill>
                  <a:srgbClr val="FF0000"/>
                </a:solidFill>
              </a:rPr>
              <a:t>(fig)</a:t>
            </a:r>
          </a:p>
          <a:p>
            <a:endParaRPr lang="en-US" sz="1600" dirty="0"/>
          </a:p>
          <a:p>
            <a:r>
              <a:rPr lang="en-US" sz="1400" dirty="0"/>
              <a:t>Funds Transfer Instruction Number (FTI#) - A unique identifier for each utility . Contains information about Bank account</a:t>
            </a:r>
          </a:p>
          <a:p>
            <a:endParaRPr lang="en-US" sz="1400" dirty="0"/>
          </a:p>
          <a:p>
            <a:r>
              <a:rPr lang="en-US" sz="1400" dirty="0"/>
              <a:t>Funds Transfer Number - A unique number generated for each daily deposit.</a:t>
            </a:r>
          </a:p>
          <a:p>
            <a:endParaRPr lang="en-US" sz="1400" dirty="0"/>
          </a:p>
          <a:p>
            <a:r>
              <a:rPr lang="en-US" sz="1600" b="1" dirty="0"/>
              <a:t>Auto-Pay Enrollment </a:t>
            </a:r>
            <a:r>
              <a:rPr lang="en-US" sz="1600" dirty="0"/>
              <a:t>- This feature shows all the accounts that have enrolled into Auto Pay in the selected period through the SCM platform.</a:t>
            </a:r>
          </a:p>
          <a:p>
            <a:endParaRPr lang="en-US" sz="1600" dirty="0"/>
          </a:p>
          <a:p>
            <a:r>
              <a:rPr lang="en-US" sz="1600" b="1" dirty="0"/>
              <a:t>Upcoming AutoPay </a:t>
            </a:r>
            <a:r>
              <a:rPr lang="en-US" sz="1600" dirty="0"/>
              <a:t>- This feature shows all the upcoming Auto Pay payments to be processed for the next 7 days.</a:t>
            </a:r>
          </a:p>
          <a:p>
            <a:endParaRPr lang="en-US" sz="1600" dirty="0"/>
          </a:p>
          <a:p>
            <a:r>
              <a:rPr lang="en-US" sz="1600" dirty="0">
                <a:solidFill>
                  <a:srgbClr val="FF0000"/>
                </a:solidFill>
              </a:rPr>
              <a:t>SCM</a:t>
            </a:r>
            <a:r>
              <a:rPr lang="en-US" sz="1600" dirty="0"/>
              <a:t> – (Self-Care Module) the customer portal where users manage their utility account . Eg. Smart CX </a:t>
            </a:r>
          </a:p>
          <a:p>
            <a:endParaRPr lang="en-US" sz="1400" dirty="0"/>
          </a:p>
          <a:p>
            <a:endParaRPr lang="en-US" sz="1400" dirty="0"/>
          </a:p>
          <a:p>
            <a:endParaRPr lang="en-US" sz="1400" dirty="0"/>
          </a:p>
          <a:p>
            <a:endParaRPr lang="en-US" sz="1600" dirty="0"/>
          </a:p>
          <a:p>
            <a:endParaRPr lang="en-US" sz="1600" dirty="0"/>
          </a:p>
          <a:p>
            <a:endParaRPr lang="en-US" sz="1600" dirty="0"/>
          </a:p>
          <a:p>
            <a:endParaRPr lang="en-US" dirty="0"/>
          </a:p>
        </p:txBody>
      </p:sp>
    </p:spTree>
    <p:extLst>
      <p:ext uri="{BB962C8B-B14F-4D97-AF65-F5344CB8AC3E}">
        <p14:creationId xmlns:p14="http://schemas.microsoft.com/office/powerpoint/2010/main" val="2431503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43C054-AC6D-F86F-B5B7-251DCE0E060B}"/>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8523075B-D2E2-6ED8-AB4C-CE3098BF139E}"/>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73156362-E910-1D59-CB19-D23A074D217C}"/>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2B12E0FB-D567-2FC5-36CA-FD663B1E39BF}"/>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4AF876DA-1EAB-9B84-1A5D-2355BE44768D}"/>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EA4C06B9-EC57-ADE1-38E3-95E1D0DFA39C}"/>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F365C755-7323-87C8-250E-35A64D993E1F}"/>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8EB52543-6293-4507-D73A-5CCBA37454AF}"/>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A7D9AE66-D0C6-878B-9914-BD46523334CA}"/>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872F870E-AF4C-A52D-889B-8299C7C389DC}"/>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4C8C0A72-1B96-D63B-28C6-FE93CBB59E82}"/>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24</a:t>
            </a:fld>
            <a:endParaRPr spc="-50" dirty="0"/>
          </a:p>
        </p:txBody>
      </p:sp>
      <p:sp>
        <p:nvSpPr>
          <p:cNvPr id="12" name="TextBox 11">
            <a:extLst>
              <a:ext uri="{FF2B5EF4-FFF2-40B4-BE49-F238E27FC236}">
                <a16:creationId xmlns:a16="http://schemas.microsoft.com/office/drawing/2014/main" id="{A5D0F9F1-9D60-7A10-07EC-7B35CB486496}"/>
              </a:ext>
            </a:extLst>
          </p:cNvPr>
          <p:cNvSpPr txBox="1"/>
          <p:nvPr/>
        </p:nvSpPr>
        <p:spPr>
          <a:xfrm>
            <a:off x="514350" y="1038225"/>
            <a:ext cx="8090916" cy="276999"/>
          </a:xfrm>
          <a:prstGeom prst="rect">
            <a:avLst/>
          </a:prstGeom>
          <a:noFill/>
        </p:spPr>
        <p:txBody>
          <a:bodyPr wrap="square" rtlCol="0">
            <a:spAutoFit/>
          </a:bodyPr>
          <a:lstStyle/>
          <a:p>
            <a:endParaRPr lang="en-US" sz="1200" dirty="0"/>
          </a:p>
        </p:txBody>
      </p:sp>
      <p:sp>
        <p:nvSpPr>
          <p:cNvPr id="13" name="TextBox 12">
            <a:extLst>
              <a:ext uri="{FF2B5EF4-FFF2-40B4-BE49-F238E27FC236}">
                <a16:creationId xmlns:a16="http://schemas.microsoft.com/office/drawing/2014/main" id="{44C6E317-3F1E-C934-3CEC-12558D223365}"/>
              </a:ext>
            </a:extLst>
          </p:cNvPr>
          <p:cNvSpPr txBox="1"/>
          <p:nvPr/>
        </p:nvSpPr>
        <p:spPr>
          <a:xfrm>
            <a:off x="2419350" y="200025"/>
            <a:ext cx="4114800" cy="369332"/>
          </a:xfrm>
          <a:prstGeom prst="rect">
            <a:avLst/>
          </a:prstGeom>
          <a:noFill/>
        </p:spPr>
        <p:txBody>
          <a:bodyPr wrap="square" rtlCol="0">
            <a:spAutoFit/>
          </a:bodyPr>
          <a:lstStyle/>
          <a:p>
            <a:pPr algn="ctr"/>
            <a:r>
              <a:rPr lang="en-US" b="1" dirty="0"/>
              <a:t>AiElectron BX</a:t>
            </a:r>
          </a:p>
        </p:txBody>
      </p:sp>
      <p:sp>
        <p:nvSpPr>
          <p:cNvPr id="16" name="TextBox 15">
            <a:extLst>
              <a:ext uri="{FF2B5EF4-FFF2-40B4-BE49-F238E27FC236}">
                <a16:creationId xmlns:a16="http://schemas.microsoft.com/office/drawing/2014/main" id="{FF41151A-5CF2-0940-7688-79561E9FDFBA}"/>
              </a:ext>
            </a:extLst>
          </p:cNvPr>
          <p:cNvSpPr txBox="1"/>
          <p:nvPr/>
        </p:nvSpPr>
        <p:spPr>
          <a:xfrm>
            <a:off x="337873" y="657225"/>
            <a:ext cx="8426143" cy="4370427"/>
          </a:xfrm>
          <a:prstGeom prst="rect">
            <a:avLst/>
          </a:prstGeom>
          <a:noFill/>
        </p:spPr>
        <p:txBody>
          <a:bodyPr wrap="square" rtlCol="0">
            <a:spAutoFit/>
          </a:bodyPr>
          <a:lstStyle/>
          <a:p>
            <a:r>
              <a:rPr lang="en-US" sz="1600" b="1" dirty="0"/>
              <a:t>Processed Autopay </a:t>
            </a:r>
            <a:r>
              <a:rPr lang="en-US" sz="1600" dirty="0"/>
              <a:t>- CSP offers CSR’s the capability to view all processed Auto Pay Payments during the specified date range options.</a:t>
            </a:r>
          </a:p>
          <a:p>
            <a:endParaRPr lang="en-US" sz="1600" dirty="0"/>
          </a:p>
          <a:p>
            <a:endParaRPr lang="en-US" sz="1600" dirty="0"/>
          </a:p>
          <a:p>
            <a:r>
              <a:rPr lang="en-US" sz="1600" dirty="0"/>
              <a:t>Auto-Pay Enrollment shows which customers have signed up for automatic payments, while Processed AutoPay shows the actual payments that were made and whether they were successful, failed, or declined.</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solidFill>
                  <a:srgbClr val="FF0000"/>
                </a:solidFill>
              </a:rPr>
              <a:t>CSP</a:t>
            </a:r>
            <a:r>
              <a:rPr lang="en-US" sz="1600" dirty="0"/>
              <a:t> – (Customer Service Portal) is the portal used by utility company staff (like CSR agents) to manage customer accounts. Eg Smart BX</a:t>
            </a:r>
          </a:p>
          <a:p>
            <a:endParaRPr lang="en-US" sz="1600" dirty="0"/>
          </a:p>
          <a:p>
            <a:endParaRPr lang="en-US" dirty="0"/>
          </a:p>
        </p:txBody>
      </p:sp>
    </p:spTree>
    <p:extLst>
      <p:ext uri="{BB962C8B-B14F-4D97-AF65-F5344CB8AC3E}">
        <p14:creationId xmlns:p14="http://schemas.microsoft.com/office/powerpoint/2010/main" val="2419049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0BE8AC7-9096-FDD8-359C-DE58F091B3A5}"/>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72AF4E4-CFA1-F783-AE1A-7C242D2D2AD5}"/>
              </a:ext>
            </a:extLst>
          </p:cNvPr>
          <p:cNvPicPr/>
          <p:nvPr/>
        </p:nvPicPr>
        <p:blipFill>
          <a:blip r:embed="rId3" cstate="print"/>
          <a:stretch>
            <a:fillRect/>
          </a:stretch>
        </p:blipFill>
        <p:spPr>
          <a:xfrm>
            <a:off x="0" y="-2"/>
            <a:ext cx="9105900" cy="5126736"/>
          </a:xfrm>
          <a:prstGeom prst="rect">
            <a:avLst/>
          </a:prstGeom>
        </p:spPr>
      </p:pic>
      <p:grpSp>
        <p:nvGrpSpPr>
          <p:cNvPr id="3" name="object 3">
            <a:extLst>
              <a:ext uri="{FF2B5EF4-FFF2-40B4-BE49-F238E27FC236}">
                <a16:creationId xmlns:a16="http://schemas.microsoft.com/office/drawing/2014/main" id="{BB904293-EA45-90F2-E7AE-0ECEA480F22C}"/>
              </a:ext>
            </a:extLst>
          </p:cNvPr>
          <p:cNvGrpSpPr/>
          <p:nvPr/>
        </p:nvGrpSpPr>
        <p:grpSpPr>
          <a:xfrm>
            <a:off x="0" y="-28575"/>
            <a:ext cx="9105900" cy="5124470"/>
            <a:chOff x="0" y="-21"/>
            <a:chExt cx="9105900" cy="5124470"/>
          </a:xfrm>
        </p:grpSpPr>
        <p:pic>
          <p:nvPicPr>
            <p:cNvPr id="4" name="object 4">
              <a:extLst>
                <a:ext uri="{FF2B5EF4-FFF2-40B4-BE49-F238E27FC236}">
                  <a16:creationId xmlns:a16="http://schemas.microsoft.com/office/drawing/2014/main" id="{9BB1D476-51E6-E117-AED5-E6EB4EEB18DE}"/>
                </a:ext>
              </a:extLst>
            </p:cNvPr>
            <p:cNvPicPr/>
            <p:nvPr/>
          </p:nvPicPr>
          <p:blipFill>
            <a:blip r:embed="rId4" cstate="print"/>
            <a:stretch>
              <a:fillRect/>
            </a:stretch>
          </p:blipFill>
          <p:spPr>
            <a:xfrm>
              <a:off x="0" y="19126"/>
              <a:ext cx="4047997" cy="3849751"/>
            </a:xfrm>
            <a:prstGeom prst="rect">
              <a:avLst/>
            </a:prstGeom>
          </p:spPr>
        </p:pic>
        <p:pic>
          <p:nvPicPr>
            <p:cNvPr id="5" name="object 5">
              <a:extLst>
                <a:ext uri="{FF2B5EF4-FFF2-40B4-BE49-F238E27FC236}">
                  <a16:creationId xmlns:a16="http://schemas.microsoft.com/office/drawing/2014/main" id="{6594C8D0-614B-B7A5-3430-8829E42FDBE9}"/>
                </a:ext>
              </a:extLst>
            </p:cNvPr>
            <p:cNvPicPr/>
            <p:nvPr/>
          </p:nvPicPr>
          <p:blipFill>
            <a:blip r:embed="rId5" cstate="print"/>
            <a:stretch>
              <a:fillRect/>
            </a:stretch>
          </p:blipFill>
          <p:spPr>
            <a:xfrm>
              <a:off x="2828925" y="19050"/>
              <a:ext cx="6276975" cy="5105399"/>
            </a:xfrm>
            <a:prstGeom prst="rect">
              <a:avLst/>
            </a:prstGeom>
          </p:spPr>
        </p:pic>
        <p:pic>
          <p:nvPicPr>
            <p:cNvPr id="6" name="object 6">
              <a:extLst>
                <a:ext uri="{FF2B5EF4-FFF2-40B4-BE49-F238E27FC236}">
                  <a16:creationId xmlns:a16="http://schemas.microsoft.com/office/drawing/2014/main" id="{432AC372-D46D-1F88-C270-74016ACEB7D5}"/>
                </a:ext>
              </a:extLst>
            </p:cNvPr>
            <p:cNvPicPr/>
            <p:nvPr/>
          </p:nvPicPr>
          <p:blipFill>
            <a:blip r:embed="rId6" cstate="print"/>
            <a:stretch>
              <a:fillRect/>
            </a:stretch>
          </p:blipFill>
          <p:spPr>
            <a:xfrm>
              <a:off x="337873" y="4864719"/>
              <a:ext cx="176911" cy="150988"/>
            </a:xfrm>
            <a:prstGeom prst="rect">
              <a:avLst/>
            </a:prstGeom>
          </p:spPr>
        </p:pic>
        <p:sp>
          <p:nvSpPr>
            <p:cNvPr id="7" name="object 7">
              <a:extLst>
                <a:ext uri="{FF2B5EF4-FFF2-40B4-BE49-F238E27FC236}">
                  <a16:creationId xmlns:a16="http://schemas.microsoft.com/office/drawing/2014/main" id="{8ED46F95-9E91-D1CA-E860-D423170A7F8B}"/>
                </a:ext>
              </a:extLst>
            </p:cNvPr>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pic>
          <p:nvPicPr>
            <p:cNvPr id="8" name="object 8">
              <a:extLst>
                <a:ext uri="{FF2B5EF4-FFF2-40B4-BE49-F238E27FC236}">
                  <a16:creationId xmlns:a16="http://schemas.microsoft.com/office/drawing/2014/main" id="{2B95D389-9E98-4AAC-FB50-4D94D6C58C3B}"/>
                </a:ext>
              </a:extLst>
            </p:cNvPr>
            <p:cNvPicPr/>
            <p:nvPr/>
          </p:nvPicPr>
          <p:blipFill>
            <a:blip r:embed="rId7" cstate="print"/>
            <a:stretch>
              <a:fillRect/>
            </a:stretch>
          </p:blipFill>
          <p:spPr>
            <a:xfrm>
              <a:off x="0" y="-21"/>
              <a:ext cx="9105900" cy="47646"/>
            </a:xfrm>
            <a:prstGeom prst="rect">
              <a:avLst/>
            </a:prstGeom>
          </p:spPr>
        </p:pic>
      </p:grpSp>
      <p:sp>
        <p:nvSpPr>
          <p:cNvPr id="9" name="object 9">
            <a:extLst>
              <a:ext uri="{FF2B5EF4-FFF2-40B4-BE49-F238E27FC236}">
                <a16:creationId xmlns:a16="http://schemas.microsoft.com/office/drawing/2014/main" id="{986AF6EE-E4AF-12F8-EBC1-7EBCF97122EC}"/>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spc="75" dirty="0"/>
              <a:t>N</a:t>
            </a:r>
            <a:r>
              <a:rPr spc="5" dirty="0"/>
              <a:t> </a:t>
            </a:r>
            <a:r>
              <a:rPr dirty="0"/>
              <a:t>O</a:t>
            </a:r>
            <a:r>
              <a:rPr spc="-55" dirty="0"/>
              <a:t> </a:t>
            </a:r>
            <a:r>
              <a:rPr dirty="0"/>
              <a:t>T</a:t>
            </a:r>
            <a:r>
              <a:rPr spc="425" dirty="0"/>
              <a:t> </a:t>
            </a:r>
            <a:r>
              <a:rPr dirty="0"/>
              <a:t>F</a:t>
            </a:r>
            <a:r>
              <a:rPr spc="-10" dirty="0"/>
              <a:t> </a:t>
            </a:r>
            <a:r>
              <a:rPr dirty="0"/>
              <a:t>O</a:t>
            </a:r>
            <a:r>
              <a:rPr spc="25" dirty="0"/>
              <a:t> </a:t>
            </a:r>
            <a:r>
              <a:rPr dirty="0"/>
              <a:t>R</a:t>
            </a:r>
            <a:r>
              <a:rPr spc="409" dirty="0"/>
              <a:t> </a:t>
            </a:r>
            <a:r>
              <a:rPr spc="50" dirty="0"/>
              <a:t>D</a:t>
            </a:r>
            <a:r>
              <a:rPr spc="-30" dirty="0"/>
              <a:t> </a:t>
            </a:r>
            <a:r>
              <a:rPr dirty="0"/>
              <a:t>I</a:t>
            </a:r>
            <a:r>
              <a:rPr spc="-5" dirty="0"/>
              <a:t> </a:t>
            </a:r>
            <a:r>
              <a:rPr spc="100" dirty="0"/>
              <a:t>S</a:t>
            </a:r>
            <a:r>
              <a:rPr spc="-45" dirty="0"/>
              <a:t> </a:t>
            </a:r>
            <a:r>
              <a:rPr dirty="0"/>
              <a:t>T</a:t>
            </a:r>
            <a:r>
              <a:rPr spc="25" dirty="0"/>
              <a:t> </a:t>
            </a:r>
            <a:r>
              <a:rPr dirty="0"/>
              <a:t>R</a:t>
            </a:r>
            <a:r>
              <a:rPr spc="15" dirty="0"/>
              <a:t> </a:t>
            </a:r>
            <a:r>
              <a:rPr dirty="0"/>
              <a:t>I</a:t>
            </a:r>
            <a:r>
              <a:rPr spc="-85" dirty="0"/>
              <a:t> </a:t>
            </a:r>
            <a:r>
              <a:rPr spc="60" dirty="0"/>
              <a:t>B</a:t>
            </a:r>
            <a:r>
              <a:rPr spc="5" dirty="0"/>
              <a:t> </a:t>
            </a:r>
            <a:r>
              <a:rPr dirty="0"/>
              <a:t>U</a:t>
            </a:r>
            <a:r>
              <a:rPr spc="-15" dirty="0"/>
              <a:t> </a:t>
            </a:r>
            <a:r>
              <a:rPr dirty="0"/>
              <a:t>T</a:t>
            </a:r>
            <a:r>
              <a:rPr spc="25" dirty="0"/>
              <a:t> </a:t>
            </a:r>
            <a:r>
              <a:rPr dirty="0"/>
              <a:t>I</a:t>
            </a:r>
            <a:r>
              <a:rPr spc="-5" dirty="0"/>
              <a:t> </a:t>
            </a:r>
            <a:r>
              <a:rPr dirty="0"/>
              <a:t>O</a:t>
            </a:r>
            <a:r>
              <a:rPr spc="-50" dirty="0"/>
              <a:t> </a:t>
            </a:r>
            <a:r>
              <a:rPr spc="25" dirty="0"/>
              <a:t>N</a:t>
            </a:r>
          </a:p>
        </p:txBody>
      </p:sp>
      <p:sp>
        <p:nvSpPr>
          <p:cNvPr id="10" name="object 10">
            <a:extLst>
              <a:ext uri="{FF2B5EF4-FFF2-40B4-BE49-F238E27FC236}">
                <a16:creationId xmlns:a16="http://schemas.microsoft.com/office/drawing/2014/main" id="{564D68E5-B0FD-8EC8-3FBF-8177EF33A7F8}"/>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70" dirty="0"/>
              <a:t>©</a:t>
            </a:r>
            <a:r>
              <a:rPr spc="-20" dirty="0"/>
              <a:t> </a:t>
            </a:r>
            <a:r>
              <a:rPr dirty="0"/>
              <a:t>2026</a:t>
            </a:r>
            <a:r>
              <a:rPr spc="25" dirty="0"/>
              <a:t> </a:t>
            </a:r>
            <a:r>
              <a:rPr spc="-10" dirty="0"/>
              <a:t>SEW.AI</a:t>
            </a:r>
          </a:p>
        </p:txBody>
      </p:sp>
      <p:sp>
        <p:nvSpPr>
          <p:cNvPr id="11" name="object 11">
            <a:extLst>
              <a:ext uri="{FF2B5EF4-FFF2-40B4-BE49-F238E27FC236}">
                <a16:creationId xmlns:a16="http://schemas.microsoft.com/office/drawing/2014/main" id="{4AC7D3AC-F429-0FB2-B633-BFF7473B5699}"/>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50" dirty="0"/>
              <a:t>25</a:t>
            </a:fld>
            <a:endParaRPr spc="-50" dirty="0"/>
          </a:p>
        </p:txBody>
      </p:sp>
      <p:sp>
        <p:nvSpPr>
          <p:cNvPr id="13" name="TextBox 12">
            <a:extLst>
              <a:ext uri="{FF2B5EF4-FFF2-40B4-BE49-F238E27FC236}">
                <a16:creationId xmlns:a16="http://schemas.microsoft.com/office/drawing/2014/main" id="{4F539A7F-845C-8ED8-D33B-FE4644F57F90}"/>
              </a:ext>
            </a:extLst>
          </p:cNvPr>
          <p:cNvSpPr txBox="1"/>
          <p:nvPr/>
        </p:nvSpPr>
        <p:spPr>
          <a:xfrm>
            <a:off x="2462148" y="332326"/>
            <a:ext cx="4114800" cy="369332"/>
          </a:xfrm>
          <a:prstGeom prst="rect">
            <a:avLst/>
          </a:prstGeom>
          <a:noFill/>
        </p:spPr>
        <p:txBody>
          <a:bodyPr wrap="square" rtlCol="0">
            <a:spAutoFit/>
          </a:bodyPr>
          <a:lstStyle/>
          <a:p>
            <a:pPr algn="ctr"/>
            <a:r>
              <a:rPr lang="en-US" b="1" dirty="0"/>
              <a:t>Payment Architecture</a:t>
            </a:r>
          </a:p>
        </p:txBody>
      </p:sp>
      <p:pic>
        <p:nvPicPr>
          <p:cNvPr id="15" name="Picture 14">
            <a:extLst>
              <a:ext uri="{FF2B5EF4-FFF2-40B4-BE49-F238E27FC236}">
                <a16:creationId xmlns:a16="http://schemas.microsoft.com/office/drawing/2014/main" id="{4C4B0294-8494-2172-05AE-BCF91544D5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4355" y="1051395"/>
            <a:ext cx="8083394" cy="3210516"/>
          </a:xfrm>
          <a:prstGeom prst="rect">
            <a:avLst/>
          </a:prstGeom>
        </p:spPr>
      </p:pic>
    </p:spTree>
    <p:extLst>
      <p:ext uri="{BB962C8B-B14F-4D97-AF65-F5344CB8AC3E}">
        <p14:creationId xmlns:p14="http://schemas.microsoft.com/office/powerpoint/2010/main" val="1097759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6510" rIns="0" bIns="0" rtlCol="0">
            <a:spAutoFit/>
          </a:bodyPr>
          <a:lstStyle/>
          <a:p>
            <a:pPr marL="12700">
              <a:lnSpc>
                <a:spcPct val="100000"/>
              </a:lnSpc>
              <a:spcBef>
                <a:spcPts val="130"/>
              </a:spcBef>
            </a:pPr>
            <a:r>
              <a:rPr sz="2000" spc="70" dirty="0"/>
              <a:t>SEW</a:t>
            </a:r>
            <a:r>
              <a:rPr sz="2000" spc="-125" dirty="0"/>
              <a:t> </a:t>
            </a:r>
            <a:r>
              <a:rPr sz="2000" spc="-35" dirty="0"/>
              <a:t>Headquarters</a:t>
            </a:r>
            <a:endParaRPr sz="2000"/>
          </a:p>
        </p:txBody>
      </p:sp>
      <p:sp>
        <p:nvSpPr>
          <p:cNvPr id="3" name="object 3"/>
          <p:cNvSpPr txBox="1"/>
          <p:nvPr/>
        </p:nvSpPr>
        <p:spPr>
          <a:xfrm>
            <a:off x="6516369" y="2519616"/>
            <a:ext cx="1793875" cy="762635"/>
          </a:xfrm>
          <a:prstGeom prst="rect">
            <a:avLst/>
          </a:prstGeom>
        </p:spPr>
        <p:txBody>
          <a:bodyPr vert="horz" wrap="square" lIns="0" tIns="9525" rIns="0" bIns="0" rtlCol="0">
            <a:spAutoFit/>
          </a:bodyPr>
          <a:lstStyle/>
          <a:p>
            <a:pPr marL="12065" marR="5080" indent="-3175" algn="ctr">
              <a:lnSpc>
                <a:spcPct val="101800"/>
              </a:lnSpc>
              <a:spcBef>
                <a:spcPts val="75"/>
              </a:spcBef>
            </a:pPr>
            <a:r>
              <a:rPr sz="1200" spc="50" dirty="0">
                <a:solidFill>
                  <a:srgbClr val="404040"/>
                </a:solidFill>
                <a:latin typeface="Trebuchet MS"/>
                <a:cs typeface="Trebuchet MS"/>
              </a:rPr>
              <a:t>15495</a:t>
            </a:r>
            <a:r>
              <a:rPr sz="1200" spc="35" dirty="0">
                <a:solidFill>
                  <a:srgbClr val="404040"/>
                </a:solidFill>
                <a:latin typeface="Trebuchet MS"/>
                <a:cs typeface="Trebuchet MS"/>
              </a:rPr>
              <a:t> </a:t>
            </a:r>
            <a:r>
              <a:rPr sz="1200" dirty="0">
                <a:solidFill>
                  <a:srgbClr val="404040"/>
                </a:solidFill>
                <a:latin typeface="Trebuchet MS"/>
                <a:cs typeface="Trebuchet MS"/>
              </a:rPr>
              <a:t>Sand</a:t>
            </a:r>
            <a:r>
              <a:rPr sz="1200" spc="40" dirty="0">
                <a:solidFill>
                  <a:srgbClr val="404040"/>
                </a:solidFill>
                <a:latin typeface="Trebuchet MS"/>
                <a:cs typeface="Trebuchet MS"/>
              </a:rPr>
              <a:t> </a:t>
            </a:r>
            <a:r>
              <a:rPr sz="1200" dirty="0">
                <a:solidFill>
                  <a:srgbClr val="404040"/>
                </a:solidFill>
                <a:latin typeface="Trebuchet MS"/>
                <a:cs typeface="Trebuchet MS"/>
              </a:rPr>
              <a:t>Canyon</a:t>
            </a:r>
            <a:r>
              <a:rPr sz="1200" spc="-45" dirty="0">
                <a:solidFill>
                  <a:srgbClr val="404040"/>
                </a:solidFill>
                <a:latin typeface="Trebuchet MS"/>
                <a:cs typeface="Trebuchet MS"/>
              </a:rPr>
              <a:t> </a:t>
            </a:r>
            <a:r>
              <a:rPr sz="1200" spc="-20" dirty="0">
                <a:solidFill>
                  <a:srgbClr val="404040"/>
                </a:solidFill>
                <a:latin typeface="Trebuchet MS"/>
                <a:cs typeface="Trebuchet MS"/>
              </a:rPr>
              <a:t>Ave. </a:t>
            </a:r>
            <a:r>
              <a:rPr sz="1200" spc="-35" dirty="0">
                <a:solidFill>
                  <a:srgbClr val="404040"/>
                </a:solidFill>
                <a:latin typeface="Trebuchet MS"/>
                <a:cs typeface="Trebuchet MS"/>
              </a:rPr>
              <a:t>Ste.</a:t>
            </a:r>
            <a:r>
              <a:rPr sz="1200" spc="-85" dirty="0">
                <a:solidFill>
                  <a:srgbClr val="404040"/>
                </a:solidFill>
                <a:latin typeface="Trebuchet MS"/>
                <a:cs typeface="Trebuchet MS"/>
              </a:rPr>
              <a:t> </a:t>
            </a:r>
            <a:r>
              <a:rPr sz="1200" dirty="0">
                <a:solidFill>
                  <a:srgbClr val="404040"/>
                </a:solidFill>
                <a:latin typeface="Trebuchet MS"/>
                <a:cs typeface="Trebuchet MS"/>
              </a:rPr>
              <a:t>100, </a:t>
            </a:r>
            <a:r>
              <a:rPr sz="1200" spc="-60" dirty="0">
                <a:solidFill>
                  <a:srgbClr val="404040"/>
                </a:solidFill>
                <a:latin typeface="Trebuchet MS"/>
                <a:cs typeface="Trebuchet MS"/>
              </a:rPr>
              <a:t>Irvine,</a:t>
            </a:r>
            <a:r>
              <a:rPr sz="1200" spc="-5" dirty="0">
                <a:solidFill>
                  <a:srgbClr val="404040"/>
                </a:solidFill>
                <a:latin typeface="Trebuchet MS"/>
                <a:cs typeface="Trebuchet MS"/>
              </a:rPr>
              <a:t> </a:t>
            </a:r>
            <a:r>
              <a:rPr sz="1200" spc="50" dirty="0">
                <a:solidFill>
                  <a:srgbClr val="404040"/>
                </a:solidFill>
                <a:latin typeface="Trebuchet MS"/>
                <a:cs typeface="Trebuchet MS"/>
              </a:rPr>
              <a:t>CA</a:t>
            </a:r>
            <a:r>
              <a:rPr sz="1200" spc="-95" dirty="0">
                <a:solidFill>
                  <a:srgbClr val="404040"/>
                </a:solidFill>
                <a:latin typeface="Trebuchet MS"/>
                <a:cs typeface="Trebuchet MS"/>
              </a:rPr>
              <a:t> </a:t>
            </a:r>
            <a:r>
              <a:rPr sz="1200" spc="-10" dirty="0">
                <a:solidFill>
                  <a:srgbClr val="404040"/>
                </a:solidFill>
                <a:latin typeface="Trebuchet MS"/>
                <a:cs typeface="Trebuchet MS"/>
              </a:rPr>
              <a:t>92618. </a:t>
            </a:r>
            <a:r>
              <a:rPr sz="1200" spc="-10" dirty="0">
                <a:solidFill>
                  <a:srgbClr val="404040"/>
                </a:solidFill>
                <a:latin typeface="Trebuchet MS"/>
                <a:cs typeface="Trebuchet MS"/>
                <a:hlinkClick r:id="rId2"/>
              </a:rPr>
              <a:t>info@SEW.ai</a:t>
            </a:r>
            <a:endParaRPr sz="1200">
              <a:latin typeface="Trebuchet MS"/>
              <a:cs typeface="Trebuchet MS"/>
            </a:endParaRPr>
          </a:p>
          <a:p>
            <a:pPr marL="1905" algn="ctr">
              <a:lnSpc>
                <a:spcPts val="1425"/>
              </a:lnSpc>
            </a:pPr>
            <a:r>
              <a:rPr sz="1200" dirty="0">
                <a:solidFill>
                  <a:srgbClr val="404040"/>
                </a:solidFill>
                <a:latin typeface="Trebuchet MS"/>
                <a:cs typeface="Trebuchet MS"/>
              </a:rPr>
              <a:t>(949)</a:t>
            </a:r>
            <a:r>
              <a:rPr sz="1200" spc="40" dirty="0">
                <a:solidFill>
                  <a:srgbClr val="404040"/>
                </a:solidFill>
                <a:latin typeface="Trebuchet MS"/>
                <a:cs typeface="Trebuchet MS"/>
              </a:rPr>
              <a:t> </a:t>
            </a:r>
            <a:r>
              <a:rPr sz="1200" dirty="0">
                <a:solidFill>
                  <a:srgbClr val="404040"/>
                </a:solidFill>
                <a:latin typeface="Trebuchet MS"/>
                <a:cs typeface="Trebuchet MS"/>
              </a:rPr>
              <a:t>409-</a:t>
            </a:r>
            <a:r>
              <a:rPr sz="1200" spc="30" dirty="0">
                <a:solidFill>
                  <a:srgbClr val="404040"/>
                </a:solidFill>
                <a:latin typeface="Trebuchet MS"/>
                <a:cs typeface="Trebuchet MS"/>
              </a:rPr>
              <a:t>6833</a:t>
            </a:r>
            <a:endParaRPr sz="1200">
              <a:latin typeface="Trebuchet MS"/>
              <a:cs typeface="Trebuchet MS"/>
            </a:endParaRPr>
          </a:p>
        </p:txBody>
      </p:sp>
      <p:pic>
        <p:nvPicPr>
          <p:cNvPr id="4" name="object 4"/>
          <p:cNvPicPr/>
          <p:nvPr/>
        </p:nvPicPr>
        <p:blipFill>
          <a:blip r:embed="rId3" cstate="print"/>
          <a:stretch>
            <a:fillRect/>
          </a:stretch>
        </p:blipFill>
        <p:spPr>
          <a:xfrm>
            <a:off x="378740" y="1750944"/>
            <a:ext cx="4986094" cy="2611886"/>
          </a:xfrm>
          <a:prstGeom prst="rect">
            <a:avLst/>
          </a:prstGeom>
        </p:spPr>
      </p:pic>
      <p:grpSp>
        <p:nvGrpSpPr>
          <p:cNvPr id="5" name="object 5"/>
          <p:cNvGrpSpPr/>
          <p:nvPr/>
        </p:nvGrpSpPr>
        <p:grpSpPr>
          <a:xfrm>
            <a:off x="0" y="-21"/>
            <a:ext cx="9105900" cy="5016500"/>
            <a:chOff x="0" y="-21"/>
            <a:chExt cx="9105900" cy="5016500"/>
          </a:xfrm>
        </p:grpSpPr>
        <p:pic>
          <p:nvPicPr>
            <p:cNvPr id="6" name="object 6"/>
            <p:cNvPicPr/>
            <p:nvPr/>
          </p:nvPicPr>
          <p:blipFill>
            <a:blip r:embed="rId4" cstate="print"/>
            <a:stretch>
              <a:fillRect/>
            </a:stretch>
          </p:blipFill>
          <p:spPr>
            <a:xfrm>
              <a:off x="0" y="-21"/>
              <a:ext cx="9105900" cy="47646"/>
            </a:xfrm>
            <a:prstGeom prst="rect">
              <a:avLst/>
            </a:prstGeom>
          </p:spPr>
        </p:pic>
        <p:pic>
          <p:nvPicPr>
            <p:cNvPr id="7" name="object 7"/>
            <p:cNvPicPr/>
            <p:nvPr/>
          </p:nvPicPr>
          <p:blipFill>
            <a:blip r:embed="rId5" cstate="print"/>
            <a:stretch>
              <a:fillRect/>
            </a:stretch>
          </p:blipFill>
          <p:spPr>
            <a:xfrm>
              <a:off x="337873" y="4864719"/>
              <a:ext cx="176911" cy="150988"/>
            </a:xfrm>
            <a:prstGeom prst="rect">
              <a:avLst/>
            </a:prstGeom>
          </p:spPr>
        </p:pic>
        <p:sp>
          <p:nvSpPr>
            <p:cNvPr id="8" name="object 8"/>
            <p:cNvSpPr/>
            <p:nvPr/>
          </p:nvSpPr>
          <p:spPr>
            <a:xfrm>
              <a:off x="528955" y="4864912"/>
              <a:ext cx="400050" cy="151130"/>
            </a:xfrm>
            <a:custGeom>
              <a:avLst/>
              <a:gdLst/>
              <a:ahLst/>
              <a:cxnLst/>
              <a:rect l="l" t="t" r="r" b="b"/>
              <a:pathLst>
                <a:path w="400050" h="151129">
                  <a:moveTo>
                    <a:pt x="342760" y="145440"/>
                  </a:moveTo>
                  <a:lnTo>
                    <a:pt x="341871" y="144589"/>
                  </a:lnTo>
                  <a:lnTo>
                    <a:pt x="339445" y="143802"/>
                  </a:lnTo>
                  <a:lnTo>
                    <a:pt x="337489" y="143205"/>
                  </a:lnTo>
                  <a:lnTo>
                    <a:pt x="336461" y="142748"/>
                  </a:lnTo>
                  <a:lnTo>
                    <a:pt x="336461" y="140131"/>
                  </a:lnTo>
                  <a:lnTo>
                    <a:pt x="337489" y="139547"/>
                  </a:lnTo>
                  <a:lnTo>
                    <a:pt x="338759" y="139547"/>
                  </a:lnTo>
                  <a:lnTo>
                    <a:pt x="339902" y="139484"/>
                  </a:lnTo>
                  <a:lnTo>
                    <a:pt x="340982" y="140004"/>
                  </a:lnTo>
                  <a:lnTo>
                    <a:pt x="341744" y="140919"/>
                  </a:lnTo>
                  <a:lnTo>
                    <a:pt x="342506" y="140004"/>
                  </a:lnTo>
                  <a:lnTo>
                    <a:pt x="341553" y="138887"/>
                  </a:lnTo>
                  <a:lnTo>
                    <a:pt x="340093" y="138239"/>
                  </a:lnTo>
                  <a:lnTo>
                    <a:pt x="336461" y="138239"/>
                  </a:lnTo>
                  <a:lnTo>
                    <a:pt x="334746" y="139280"/>
                  </a:lnTo>
                  <a:lnTo>
                    <a:pt x="334746" y="143268"/>
                  </a:lnTo>
                  <a:lnTo>
                    <a:pt x="335826" y="144056"/>
                  </a:lnTo>
                  <a:lnTo>
                    <a:pt x="338302" y="144907"/>
                  </a:lnTo>
                  <a:lnTo>
                    <a:pt x="340474" y="145503"/>
                  </a:lnTo>
                  <a:lnTo>
                    <a:pt x="341045" y="145897"/>
                  </a:lnTo>
                  <a:lnTo>
                    <a:pt x="341045" y="148640"/>
                  </a:lnTo>
                  <a:lnTo>
                    <a:pt x="340029" y="149364"/>
                  </a:lnTo>
                  <a:lnTo>
                    <a:pt x="337286" y="149364"/>
                  </a:lnTo>
                  <a:lnTo>
                    <a:pt x="336080" y="148844"/>
                  </a:lnTo>
                  <a:lnTo>
                    <a:pt x="335191" y="147853"/>
                  </a:lnTo>
                  <a:lnTo>
                    <a:pt x="334556" y="148971"/>
                  </a:lnTo>
                  <a:lnTo>
                    <a:pt x="335635" y="150215"/>
                  </a:lnTo>
                  <a:lnTo>
                    <a:pt x="337159" y="150863"/>
                  </a:lnTo>
                  <a:lnTo>
                    <a:pt x="341172" y="150863"/>
                  </a:lnTo>
                  <a:lnTo>
                    <a:pt x="342760" y="149555"/>
                  </a:lnTo>
                  <a:lnTo>
                    <a:pt x="342760" y="145440"/>
                  </a:lnTo>
                  <a:close/>
                </a:path>
                <a:path w="400050" h="151129">
                  <a:moveTo>
                    <a:pt x="356755" y="150545"/>
                  </a:moveTo>
                  <a:lnTo>
                    <a:pt x="355485" y="138430"/>
                  </a:lnTo>
                  <a:lnTo>
                    <a:pt x="353898" y="138430"/>
                  </a:lnTo>
                  <a:lnTo>
                    <a:pt x="350456" y="148183"/>
                  </a:lnTo>
                  <a:lnTo>
                    <a:pt x="347281" y="138430"/>
                  </a:lnTo>
                  <a:lnTo>
                    <a:pt x="345427" y="138430"/>
                  </a:lnTo>
                  <a:lnTo>
                    <a:pt x="344284" y="150545"/>
                  </a:lnTo>
                  <a:lnTo>
                    <a:pt x="345757" y="150545"/>
                  </a:lnTo>
                  <a:lnTo>
                    <a:pt x="346697" y="141185"/>
                  </a:lnTo>
                  <a:lnTo>
                    <a:pt x="349885" y="150545"/>
                  </a:lnTo>
                  <a:lnTo>
                    <a:pt x="351155" y="150545"/>
                  </a:lnTo>
                  <a:lnTo>
                    <a:pt x="354342" y="141185"/>
                  </a:lnTo>
                  <a:lnTo>
                    <a:pt x="355231" y="150545"/>
                  </a:lnTo>
                  <a:lnTo>
                    <a:pt x="356755" y="150545"/>
                  </a:lnTo>
                  <a:close/>
                </a:path>
                <a:path w="400050" h="151129">
                  <a:moveTo>
                    <a:pt x="399884" y="0"/>
                  </a:moveTo>
                  <a:lnTo>
                    <a:pt x="374789" y="0"/>
                  </a:lnTo>
                  <a:lnTo>
                    <a:pt x="371132" y="2171"/>
                  </a:lnTo>
                  <a:lnTo>
                    <a:pt x="369227" y="5829"/>
                  </a:lnTo>
                  <a:lnTo>
                    <a:pt x="309549" y="112191"/>
                  </a:lnTo>
                  <a:lnTo>
                    <a:pt x="287934" y="65976"/>
                  </a:lnTo>
                  <a:lnTo>
                    <a:pt x="261531" y="9563"/>
                  </a:lnTo>
                  <a:lnTo>
                    <a:pt x="213499" y="112191"/>
                  </a:lnTo>
                  <a:lnTo>
                    <a:pt x="164553" y="25133"/>
                  </a:lnTo>
                  <a:lnTo>
                    <a:pt x="153695" y="5829"/>
                  </a:lnTo>
                  <a:lnTo>
                    <a:pt x="151726" y="2171"/>
                  </a:lnTo>
                  <a:lnTo>
                    <a:pt x="148145" y="0"/>
                  </a:lnTo>
                  <a:lnTo>
                    <a:pt x="6311" y="0"/>
                  </a:lnTo>
                  <a:lnTo>
                    <a:pt x="127" y="6553"/>
                  </a:lnTo>
                  <a:lnTo>
                    <a:pt x="152" y="137706"/>
                  </a:lnTo>
                  <a:lnTo>
                    <a:pt x="0" y="143929"/>
                  </a:lnTo>
                  <a:lnTo>
                    <a:pt x="6108" y="150545"/>
                  </a:lnTo>
                  <a:lnTo>
                    <a:pt x="13868" y="150736"/>
                  </a:lnTo>
                  <a:lnTo>
                    <a:pt x="177431" y="150736"/>
                  </a:lnTo>
                  <a:lnTo>
                    <a:pt x="166738" y="131559"/>
                  </a:lnTo>
                  <a:lnTo>
                    <a:pt x="164769" y="127889"/>
                  </a:lnTo>
                  <a:lnTo>
                    <a:pt x="161023" y="125603"/>
                  </a:lnTo>
                  <a:lnTo>
                    <a:pt x="25704" y="125603"/>
                  </a:lnTo>
                  <a:lnTo>
                    <a:pt x="23609" y="123317"/>
                  </a:lnTo>
                  <a:lnTo>
                    <a:pt x="23545" y="87972"/>
                  </a:lnTo>
                  <a:lnTo>
                    <a:pt x="141998" y="87972"/>
                  </a:lnTo>
                  <a:lnTo>
                    <a:pt x="131178" y="68732"/>
                  </a:lnTo>
                  <a:lnTo>
                    <a:pt x="129209" y="65062"/>
                  </a:lnTo>
                  <a:lnTo>
                    <a:pt x="125526" y="62839"/>
                  </a:lnTo>
                  <a:lnTo>
                    <a:pt x="23736" y="62839"/>
                  </a:lnTo>
                  <a:lnTo>
                    <a:pt x="23672" y="27368"/>
                  </a:lnTo>
                  <a:lnTo>
                    <a:pt x="25768" y="25133"/>
                  </a:lnTo>
                  <a:lnTo>
                    <a:pt x="136080" y="25133"/>
                  </a:lnTo>
                  <a:lnTo>
                    <a:pt x="137541" y="26047"/>
                  </a:lnTo>
                  <a:lnTo>
                    <a:pt x="138176" y="27368"/>
                  </a:lnTo>
                  <a:lnTo>
                    <a:pt x="207391" y="150545"/>
                  </a:lnTo>
                  <a:lnTo>
                    <a:pt x="207492" y="150736"/>
                  </a:lnTo>
                  <a:lnTo>
                    <a:pt x="207568" y="150863"/>
                  </a:lnTo>
                  <a:lnTo>
                    <a:pt x="207645" y="151003"/>
                  </a:lnTo>
                  <a:lnTo>
                    <a:pt x="216293" y="150863"/>
                  </a:lnTo>
                  <a:lnTo>
                    <a:pt x="224028" y="145821"/>
                  </a:lnTo>
                  <a:lnTo>
                    <a:pt x="224967" y="143929"/>
                  </a:lnTo>
                  <a:lnTo>
                    <a:pt x="227812" y="137706"/>
                  </a:lnTo>
                  <a:lnTo>
                    <a:pt x="239737" y="112191"/>
                  </a:lnTo>
                  <a:lnTo>
                    <a:pt x="261327" y="65976"/>
                  </a:lnTo>
                  <a:lnTo>
                    <a:pt x="294919" y="137706"/>
                  </a:lnTo>
                  <a:lnTo>
                    <a:pt x="298551" y="145821"/>
                  </a:lnTo>
                  <a:lnTo>
                    <a:pt x="306438" y="151003"/>
                  </a:lnTo>
                  <a:lnTo>
                    <a:pt x="315150" y="151003"/>
                  </a:lnTo>
                  <a:lnTo>
                    <a:pt x="336931" y="112191"/>
                  </a:lnTo>
                  <a:lnTo>
                    <a:pt x="399884" y="0"/>
                  </a:lnTo>
                  <a:close/>
                </a:path>
              </a:pathLst>
            </a:custGeom>
            <a:solidFill>
              <a:srgbClr val="8B8B8B"/>
            </a:solidFill>
          </p:spPr>
          <p:txBody>
            <a:bodyPr wrap="square" lIns="0" tIns="0" rIns="0" bIns="0" rtlCol="0"/>
            <a:lstStyle/>
            <a:p>
              <a:endParaRPr/>
            </a:p>
          </p:txBody>
        </p:sp>
      </p:grpSp>
      <p:sp>
        <p:nvSpPr>
          <p:cNvPr id="9" name="object 9"/>
          <p:cNvSpPr txBox="1"/>
          <p:nvPr/>
        </p:nvSpPr>
        <p:spPr>
          <a:xfrm>
            <a:off x="8630666" y="4861559"/>
            <a:ext cx="95250" cy="174625"/>
          </a:xfrm>
          <a:prstGeom prst="rect">
            <a:avLst/>
          </a:prstGeom>
        </p:spPr>
        <p:txBody>
          <a:bodyPr vert="horz" wrap="square" lIns="0" tIns="15875" rIns="0" bIns="0" rtlCol="0">
            <a:spAutoFit/>
          </a:bodyPr>
          <a:lstStyle/>
          <a:p>
            <a:pPr marL="12700">
              <a:lnSpc>
                <a:spcPct val="100000"/>
              </a:lnSpc>
              <a:spcBef>
                <a:spcPts val="125"/>
              </a:spcBef>
            </a:pPr>
            <a:r>
              <a:rPr sz="950" spc="-50" dirty="0">
                <a:solidFill>
                  <a:srgbClr val="7E7E7E"/>
                </a:solidFill>
                <a:latin typeface="Trebuchet MS"/>
                <a:cs typeface="Trebuchet MS"/>
              </a:rPr>
              <a:t>9</a:t>
            </a:r>
            <a:endParaRPr sz="950">
              <a:latin typeface="Trebuchet MS"/>
              <a:cs typeface="Trebuchet MS"/>
            </a:endParaRPr>
          </a:p>
        </p:txBody>
      </p:sp>
      <p:sp>
        <p:nvSpPr>
          <p:cNvPr id="10" name="object 10"/>
          <p:cNvSpPr txBox="1"/>
          <p:nvPr/>
        </p:nvSpPr>
        <p:spPr>
          <a:xfrm>
            <a:off x="4202429" y="4868227"/>
            <a:ext cx="711835" cy="151765"/>
          </a:xfrm>
          <a:prstGeom prst="rect">
            <a:avLst/>
          </a:prstGeom>
        </p:spPr>
        <p:txBody>
          <a:bodyPr vert="horz" wrap="square" lIns="0" tIns="15875" rIns="0" bIns="0" rtlCol="0">
            <a:spAutoFit/>
          </a:bodyPr>
          <a:lstStyle/>
          <a:p>
            <a:pPr marL="12700">
              <a:lnSpc>
                <a:spcPct val="100000"/>
              </a:lnSpc>
              <a:spcBef>
                <a:spcPts val="125"/>
              </a:spcBef>
            </a:pPr>
            <a:r>
              <a:rPr sz="800" spc="70" dirty="0">
                <a:solidFill>
                  <a:srgbClr val="A6A6A6"/>
                </a:solidFill>
                <a:latin typeface="Trebuchet MS"/>
                <a:cs typeface="Trebuchet MS"/>
              </a:rPr>
              <a:t>©</a:t>
            </a:r>
            <a:r>
              <a:rPr sz="800" spc="-20" dirty="0">
                <a:solidFill>
                  <a:srgbClr val="A6A6A6"/>
                </a:solidFill>
                <a:latin typeface="Trebuchet MS"/>
                <a:cs typeface="Trebuchet MS"/>
              </a:rPr>
              <a:t> </a:t>
            </a:r>
            <a:r>
              <a:rPr sz="800" dirty="0">
                <a:solidFill>
                  <a:srgbClr val="A6A6A6"/>
                </a:solidFill>
                <a:latin typeface="Trebuchet MS"/>
                <a:cs typeface="Trebuchet MS"/>
              </a:rPr>
              <a:t>2026</a:t>
            </a:r>
            <a:r>
              <a:rPr sz="800" spc="25" dirty="0">
                <a:solidFill>
                  <a:srgbClr val="A6A6A6"/>
                </a:solidFill>
                <a:latin typeface="Trebuchet MS"/>
                <a:cs typeface="Trebuchet MS"/>
              </a:rPr>
              <a:t> </a:t>
            </a:r>
            <a:r>
              <a:rPr sz="800" spc="-10" dirty="0">
                <a:solidFill>
                  <a:srgbClr val="A6A6A6"/>
                </a:solidFill>
                <a:latin typeface="Trebuchet MS"/>
                <a:cs typeface="Trebuchet MS"/>
              </a:rPr>
              <a:t>SEW.AI</a:t>
            </a:r>
            <a:endParaRPr sz="8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0404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3946</TotalTime>
  <Words>2661</Words>
  <Application>Microsoft Office PowerPoint</Application>
  <PresentationFormat>Custom</PresentationFormat>
  <Paragraphs>344</Paragraphs>
  <Slides>26</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Trebuchet MS</vt:lpstr>
      <vt:lpstr>Office Theme</vt:lpstr>
      <vt:lpstr>Kartikeya Agnihotri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SEW Headquarters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Kartikeya Agnihotri</cp:lastModifiedBy>
  <cp:revision>105</cp:revision>
  <dcterms:created xsi:type="dcterms:W3CDTF">2026-02-23T09:21:11Z</dcterms:created>
  <dcterms:modified xsi:type="dcterms:W3CDTF">2026-03-23T12:44:58Z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2026-02-23T00:00:00Z</vt:filetime>
  </property>
  <property fmtid="{D5CDD505-2E9C-101B-9397-08002B2CF9AE}" pid="3" name="LastSaved">
    <vt:filetime>2026-02-23T00:00:00Z</vt:filetime>
  </property>
</Properties>
</file>